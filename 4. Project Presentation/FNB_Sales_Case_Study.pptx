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8.xml" ContentType="application/vnd.openxmlformats-officedocument.presentationml.notesSlide+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1.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2.xml" ContentType="application/vnd.openxmlformats-officedocument.presentationml.notesSlide+xml"/>
  <Override PartName="/ppt/charts/chart1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Monthly Sales, Jan 2014 – Oct 2016 (R millions)</a:t>
            </a:r>
          </a:p>
        </c:rich>
      </c:tx>
      <c:overlay val="0"/>
    </c:title>
    <c:autoTitleDeleted val="0"/>
    <c:plotArea>
      <c:layout/>
      <c:lineChart>
        <c:grouping val="standard"/>
        <c:varyColors val="0"/>
        <c:ser>
          <c:idx val="0"/>
          <c:order val="0"/>
          <c:tx>
            <c:strRef>
              <c:f>Sheet1!$B$1</c:f>
              <c:strCache>
                <c:ptCount val="1"/>
                <c:pt idx="0">
                  <c:v>Monthly Sales (R M)</c:v>
                </c:pt>
              </c:strCache>
            </c:strRef>
          </c:tx>
          <c:spPr>
            <a:ln w="38100" cap="flat">
              <a:solidFill>
                <a:srgbClr val="009BA4"/>
              </a:solidFill>
              <a:prstDash val="solid"/>
              <a:round/>
            </a:ln>
            <a:effectLst/>
          </c:spPr>
          <c:marker>
            <c:symbol val="circle"/>
            <c:size val="6"/>
            <c:spPr>
              <a:solidFill>
                <a:srgbClr val="009BA4"/>
              </a:solidFill>
              <a:ln w="9525" cap="flat">
                <a:solidFill>
                  <a:srgbClr val="009BA4"/>
                </a:solidFill>
                <a:prstDash val="solid"/>
                <a:round/>
              </a:ln>
              <a:effectLst/>
            </c:spPr>
          </c:marker>
          <c:cat>
            <c:strRef>
              <c:f>Sheet1!$A$2:$A$35</c:f>
              <c:strCache>
                <c:ptCount val="34"/>
                <c:pt idx="0">
                  <c:v>Jan '14</c:v>
                </c:pt>
                <c:pt idx="1">
                  <c:v>Feb '14</c:v>
                </c:pt>
                <c:pt idx="2">
                  <c:v>Mar '14</c:v>
                </c:pt>
                <c:pt idx="3">
                  <c:v>Apr '14</c:v>
                </c:pt>
                <c:pt idx="4">
                  <c:v>May '14</c:v>
                </c:pt>
                <c:pt idx="5">
                  <c:v>Jun '14</c:v>
                </c:pt>
                <c:pt idx="6">
                  <c:v>Jul '14</c:v>
                </c:pt>
                <c:pt idx="7">
                  <c:v>Aug '14</c:v>
                </c:pt>
                <c:pt idx="8">
                  <c:v>Sep '14</c:v>
                </c:pt>
                <c:pt idx="9">
                  <c:v>Oct '14</c:v>
                </c:pt>
                <c:pt idx="10">
                  <c:v>Nov '14</c:v>
                </c:pt>
                <c:pt idx="11">
                  <c:v>Dec '14</c:v>
                </c:pt>
                <c:pt idx="12">
                  <c:v>Jan '15</c:v>
                </c:pt>
                <c:pt idx="13">
                  <c:v>Feb '15</c:v>
                </c:pt>
                <c:pt idx="14">
                  <c:v>Mar '15</c:v>
                </c:pt>
                <c:pt idx="15">
                  <c:v>Apr '15</c:v>
                </c:pt>
                <c:pt idx="16">
                  <c:v>May '15</c:v>
                </c:pt>
                <c:pt idx="17">
                  <c:v>Jun '15</c:v>
                </c:pt>
                <c:pt idx="18">
                  <c:v>Jul '15</c:v>
                </c:pt>
                <c:pt idx="19">
                  <c:v>Aug '15</c:v>
                </c:pt>
                <c:pt idx="20">
                  <c:v>Sep '15</c:v>
                </c:pt>
                <c:pt idx="21">
                  <c:v>Oct '15</c:v>
                </c:pt>
                <c:pt idx="22">
                  <c:v>Nov '15</c:v>
                </c:pt>
                <c:pt idx="23">
                  <c:v>Dec '15</c:v>
                </c:pt>
                <c:pt idx="24">
                  <c:v>Jan '16</c:v>
                </c:pt>
                <c:pt idx="25">
                  <c:v>Feb '16</c:v>
                </c:pt>
                <c:pt idx="26">
                  <c:v>Mar '16</c:v>
                </c:pt>
                <c:pt idx="27">
                  <c:v>Apr '16</c:v>
                </c:pt>
                <c:pt idx="28">
                  <c:v>May '16</c:v>
                </c:pt>
                <c:pt idx="29">
                  <c:v>Jun '16</c:v>
                </c:pt>
                <c:pt idx="30">
                  <c:v>Jul '16</c:v>
                </c:pt>
                <c:pt idx="31">
                  <c:v>Aug '16</c:v>
                </c:pt>
                <c:pt idx="32">
                  <c:v>Sep '16</c:v>
                </c:pt>
                <c:pt idx="33">
                  <c:v>Oct '16</c:v>
                </c:pt>
              </c:strCache>
            </c:strRef>
          </c:cat>
          <c:val>
            <c:numRef>
              <c:f>Sheet1!$B$2:$B$35</c:f>
              <c:numCache>
                <c:formatCode>General</c:formatCode>
                <c:ptCount val="34"/>
                <c:pt idx="0">
                  <c:v>4.01</c:v>
                </c:pt>
                <c:pt idx="1">
                  <c:v>5.78</c:v>
                </c:pt>
                <c:pt idx="2">
                  <c:v>8.2799999999999994</c:v>
                </c:pt>
                <c:pt idx="3">
                  <c:v>6.44</c:v>
                </c:pt>
                <c:pt idx="4">
                  <c:v>7.69</c:v>
                </c:pt>
                <c:pt idx="5">
                  <c:v>6.46</c:v>
                </c:pt>
                <c:pt idx="6">
                  <c:v>4.93</c:v>
                </c:pt>
                <c:pt idx="7">
                  <c:v>10.01</c:v>
                </c:pt>
                <c:pt idx="8">
                  <c:v>7.64</c:v>
                </c:pt>
                <c:pt idx="9">
                  <c:v>5.92</c:v>
                </c:pt>
                <c:pt idx="10">
                  <c:v>2.63</c:v>
                </c:pt>
                <c:pt idx="11">
                  <c:v>5.62</c:v>
                </c:pt>
                <c:pt idx="12">
                  <c:v>3.7</c:v>
                </c:pt>
                <c:pt idx="13">
                  <c:v>4.9000000000000004</c:v>
                </c:pt>
                <c:pt idx="14">
                  <c:v>5.27</c:v>
                </c:pt>
                <c:pt idx="15">
                  <c:v>5.96</c:v>
                </c:pt>
                <c:pt idx="16">
                  <c:v>8.3800000000000008</c:v>
                </c:pt>
                <c:pt idx="17">
                  <c:v>5.33</c:v>
                </c:pt>
                <c:pt idx="18">
                  <c:v>3.68</c:v>
                </c:pt>
                <c:pt idx="19">
                  <c:v>3.93</c:v>
                </c:pt>
                <c:pt idx="20">
                  <c:v>4.67</c:v>
                </c:pt>
                <c:pt idx="21">
                  <c:v>4.83</c:v>
                </c:pt>
                <c:pt idx="22">
                  <c:v>6.54</c:v>
                </c:pt>
                <c:pt idx="23">
                  <c:v>6.82</c:v>
                </c:pt>
                <c:pt idx="24">
                  <c:v>5.4</c:v>
                </c:pt>
                <c:pt idx="25">
                  <c:v>4.8899999999999997</c:v>
                </c:pt>
                <c:pt idx="26">
                  <c:v>2.95</c:v>
                </c:pt>
                <c:pt idx="27">
                  <c:v>6.66</c:v>
                </c:pt>
                <c:pt idx="28">
                  <c:v>5.17</c:v>
                </c:pt>
                <c:pt idx="29">
                  <c:v>6.77</c:v>
                </c:pt>
                <c:pt idx="30">
                  <c:v>3.32</c:v>
                </c:pt>
                <c:pt idx="31">
                  <c:v>4.34</c:v>
                </c:pt>
                <c:pt idx="32">
                  <c:v>3.26</c:v>
                </c:pt>
                <c:pt idx="33">
                  <c:v>2.33</c:v>
                </c:pt>
              </c:numCache>
            </c:numRef>
          </c:val>
          <c:smooth val="0"/>
          <c:extLst>
            <c:ext xmlns:c16="http://schemas.microsoft.com/office/drawing/2014/chart" uri="{C3380CC4-5D6E-409C-BE32-E72D297353CC}">
              <c16:uniqueId val="{00000000-5A20-4E57-80B6-AA7DE207875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9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DDE5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Daily Sales (R thousands)</a:t>
            </a:r>
          </a:p>
        </c:rich>
      </c:tx>
      <c:overlay val="0"/>
    </c:title>
    <c:autoTitleDeleted val="0"/>
    <c:plotArea>
      <c:layout/>
      <c:barChart>
        <c:barDir val="col"/>
        <c:grouping val="clustered"/>
        <c:varyColors val="0"/>
        <c:ser>
          <c:idx val="0"/>
          <c:order val="0"/>
          <c:tx>
            <c:strRef>
              <c:f>Sheet1!$B$1</c:f>
              <c:strCache>
                <c:ptCount val="1"/>
                <c:pt idx="0">
                  <c:v>Avg daily sales (R K)</c:v>
                </c:pt>
              </c:strCache>
            </c:strRef>
          </c:tx>
          <c:spPr>
            <a:solidFill>
              <a:srgbClr val="009BA4"/>
            </a:solidFill>
            <a:effectLst/>
          </c:spPr>
          <c:invertIfNegative val="0"/>
          <c:dPt>
            <c:idx val="0"/>
            <c:invertIfNegative val="0"/>
            <c:bubble3D val="0"/>
            <c:extLst>
              <c:ext xmlns:c16="http://schemas.microsoft.com/office/drawing/2014/chart" uri="{C3380CC4-5D6E-409C-BE32-E72D297353CC}">
                <c16:uniqueId val="{00000001-B618-4784-ABD2-C20D63F92B5C}"/>
              </c:ext>
            </c:extLst>
          </c:dPt>
          <c:dPt>
            <c:idx val="1"/>
            <c:invertIfNegative val="0"/>
            <c:bubble3D val="0"/>
            <c:extLst>
              <c:ext xmlns:c16="http://schemas.microsoft.com/office/drawing/2014/chart" uri="{C3380CC4-5D6E-409C-BE32-E72D297353CC}">
                <c16:uniqueId val="{00000003-B618-4784-ABD2-C20D63F92B5C}"/>
              </c:ext>
            </c:extLst>
          </c:dPt>
          <c:dPt>
            <c:idx val="2"/>
            <c:invertIfNegative val="0"/>
            <c:bubble3D val="0"/>
            <c:spPr>
              <a:solidFill>
                <a:srgbClr val="F26B21"/>
              </a:solidFill>
              <a:effectLst/>
            </c:spPr>
            <c:extLst>
              <c:ext xmlns:c16="http://schemas.microsoft.com/office/drawing/2014/chart" uri="{C3380CC4-5D6E-409C-BE32-E72D297353CC}">
                <c16:uniqueId val="{00000005-B618-4784-ABD2-C20D63F92B5C}"/>
              </c:ext>
            </c:extLst>
          </c:dPt>
          <c:dLbls>
            <c:numFmt formatCode="&quot;R&quot;0.0&quot;K&quot;"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2014</c:v>
                </c:pt>
                <c:pt idx="1">
                  <c:v>2015</c:v>
                </c:pt>
                <c:pt idx="2">
                  <c:v>2016 YTD</c:v>
                </c:pt>
              </c:strCache>
            </c:strRef>
          </c:cat>
          <c:val>
            <c:numRef>
              <c:f>Sheet1!$B$2:$B$4</c:f>
              <c:numCache>
                <c:formatCode>General</c:formatCode>
                <c:ptCount val="3"/>
                <c:pt idx="0">
                  <c:v>206.6</c:v>
                </c:pt>
                <c:pt idx="1">
                  <c:v>175.4</c:v>
                </c:pt>
                <c:pt idx="2">
                  <c:v>146.30000000000001</c:v>
                </c:pt>
              </c:numCache>
            </c:numRef>
          </c:val>
          <c:extLst>
            <c:ext xmlns:c16="http://schemas.microsoft.com/office/drawing/2014/chart" uri="{C3380CC4-5D6E-409C-BE32-E72D297353CC}">
              <c16:uniqueId val="{00000006-B618-4784-ABD2-C20D63F92B5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Sales vs Cost of Sales (R millions)</a:t>
            </a:r>
          </a:p>
        </c:rich>
      </c:tx>
      <c:overlay val="0"/>
    </c:title>
    <c:autoTitleDeleted val="0"/>
    <c:plotArea>
      <c:layout/>
      <c:barChart>
        <c:barDir val="col"/>
        <c:grouping val="clustered"/>
        <c:varyColors val="0"/>
        <c:ser>
          <c:idx val="0"/>
          <c:order val="0"/>
          <c:tx>
            <c:strRef>
              <c:f>Sheet1!$B$1</c:f>
              <c:strCache>
                <c:ptCount val="1"/>
                <c:pt idx="0">
                  <c:v>Sales</c:v>
                </c:pt>
              </c:strCache>
            </c:strRef>
          </c:tx>
          <c:spPr>
            <a:solidFill>
              <a:srgbClr val="009BA4"/>
            </a:solidFill>
            <a:effectLst/>
          </c:spPr>
          <c:invertIfNegative val="0"/>
          <c:dLbls>
            <c:numFmt formatCode="&quot;R&quot;0.0&quot;M&quot;"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2014</c:v>
                </c:pt>
                <c:pt idx="1">
                  <c:v>2015</c:v>
                </c:pt>
                <c:pt idx="2">
                  <c:v>2016 (to 16 Nov)</c:v>
                </c:pt>
              </c:strCache>
            </c:strRef>
          </c:cat>
          <c:val>
            <c:numRef>
              <c:f>Sheet1!$B$2:$B$4</c:f>
              <c:numCache>
                <c:formatCode>General</c:formatCode>
                <c:ptCount val="3"/>
                <c:pt idx="0">
                  <c:v>75.400000000000006</c:v>
                </c:pt>
                <c:pt idx="1">
                  <c:v>64</c:v>
                </c:pt>
                <c:pt idx="2">
                  <c:v>47</c:v>
                </c:pt>
              </c:numCache>
            </c:numRef>
          </c:val>
          <c:extLst>
            <c:ext xmlns:c16="http://schemas.microsoft.com/office/drawing/2014/chart" uri="{C3380CC4-5D6E-409C-BE32-E72D297353CC}">
              <c16:uniqueId val="{00000000-FEA4-4538-B4CD-257C65240DE7}"/>
            </c:ext>
          </c:extLst>
        </c:ser>
        <c:ser>
          <c:idx val="1"/>
          <c:order val="1"/>
          <c:tx>
            <c:strRef>
              <c:f>Sheet1!$C$1</c:f>
              <c:strCache>
                <c:ptCount val="1"/>
                <c:pt idx="0">
                  <c:v>Cost of Sales</c:v>
                </c:pt>
              </c:strCache>
            </c:strRef>
          </c:tx>
          <c:spPr>
            <a:solidFill>
              <a:srgbClr val="F26B21"/>
            </a:solidFill>
            <a:effectLst/>
          </c:spPr>
          <c:invertIfNegative val="0"/>
          <c:dLbls>
            <c:numFmt formatCode="&quot;R&quot;0.0&quot;M&quot;"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2014</c:v>
                </c:pt>
                <c:pt idx="1">
                  <c:v>2015</c:v>
                </c:pt>
                <c:pt idx="2">
                  <c:v>2016 (to 16 Nov)</c:v>
                </c:pt>
              </c:strCache>
            </c:strRef>
          </c:cat>
          <c:val>
            <c:numRef>
              <c:f>Sheet1!$C$2:$C$4</c:f>
              <c:numCache>
                <c:formatCode>General</c:formatCode>
                <c:ptCount val="3"/>
                <c:pt idx="0">
                  <c:v>77.7</c:v>
                </c:pt>
                <c:pt idx="1">
                  <c:v>67.900000000000006</c:v>
                </c:pt>
                <c:pt idx="2">
                  <c:v>47.9</c:v>
                </c:pt>
              </c:numCache>
            </c:numRef>
          </c:val>
          <c:extLst>
            <c:ext xmlns:c16="http://schemas.microsoft.com/office/drawing/2014/chart" uri="{C3380CC4-5D6E-409C-BE32-E72D297353CC}">
              <c16:uniqueId val="{00000001-FEA4-4538-B4CD-257C65240DE7}"/>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Gross Margin by Year (%)</a:t>
            </a:r>
          </a:p>
        </c:rich>
      </c:tx>
      <c:overlay val="0"/>
    </c:title>
    <c:autoTitleDeleted val="0"/>
    <c:plotArea>
      <c:layout/>
      <c:barChart>
        <c:barDir val="col"/>
        <c:grouping val="clustered"/>
        <c:varyColors val="0"/>
        <c:ser>
          <c:idx val="0"/>
          <c:order val="0"/>
          <c:tx>
            <c:strRef>
              <c:f>Sheet1!$B$1</c:f>
              <c:strCache>
                <c:ptCount val="1"/>
                <c:pt idx="0">
                  <c:v>Gross margin %</c:v>
                </c:pt>
              </c:strCache>
            </c:strRef>
          </c:tx>
          <c:spPr>
            <a:solidFill>
              <a:srgbClr val="D64545"/>
            </a:solidFill>
            <a:effectLst/>
          </c:spPr>
          <c:invertIfNegative val="0"/>
          <c:dLbls>
            <c:numFmt formatCode="0.0&quot;%&quot;"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2014</c:v>
                </c:pt>
                <c:pt idx="1">
                  <c:v>2015</c:v>
                </c:pt>
                <c:pt idx="2">
                  <c:v>2016 (to 16 Nov)</c:v>
                </c:pt>
              </c:strCache>
            </c:strRef>
          </c:cat>
          <c:val>
            <c:numRef>
              <c:f>Sheet1!$B$2:$B$4</c:f>
              <c:numCache>
                <c:formatCode>General</c:formatCode>
                <c:ptCount val="3"/>
                <c:pt idx="0">
                  <c:v>-3</c:v>
                </c:pt>
                <c:pt idx="1">
                  <c:v>-6.1</c:v>
                </c:pt>
                <c:pt idx="2">
                  <c:v>-2</c:v>
                </c:pt>
              </c:numCache>
            </c:numRef>
          </c:val>
          <c:extLst>
            <c:ext xmlns:c16="http://schemas.microsoft.com/office/drawing/2014/chart" uri="{C3380CC4-5D6E-409C-BE32-E72D297353CC}">
              <c16:uniqueId val="{00000000-88EE-4D65-95FF-B9E6701D134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Price vs Cost per Unit (R)</a:t>
            </a:r>
          </a:p>
        </c:rich>
      </c:tx>
      <c:overlay val="0"/>
    </c:title>
    <c:autoTitleDeleted val="0"/>
    <c:plotArea>
      <c:layout/>
      <c:lineChart>
        <c:grouping val="standard"/>
        <c:varyColors val="0"/>
        <c:ser>
          <c:idx val="0"/>
          <c:order val="0"/>
          <c:tx>
            <c:strRef>
              <c:f>Sheet1!$B$1</c:f>
              <c:strCache>
                <c:ptCount val="1"/>
                <c:pt idx="0">
                  <c:v>Avg selling price</c:v>
                </c:pt>
              </c:strCache>
            </c:strRef>
          </c:tx>
          <c:spPr>
            <a:ln w="38100" cap="flat">
              <a:solidFill>
                <a:srgbClr val="009BA4"/>
              </a:solidFill>
              <a:prstDash val="solid"/>
              <a:round/>
            </a:ln>
            <a:effectLst/>
          </c:spPr>
          <c:marker>
            <c:symbol val="circle"/>
            <c:size val="9"/>
            <c:spPr>
              <a:solidFill>
                <a:srgbClr val="009BA4"/>
              </a:solidFill>
              <a:ln w="9525" cap="flat">
                <a:solidFill>
                  <a:srgbClr val="009BA4"/>
                </a:solidFill>
                <a:prstDash val="solid"/>
                <a:round/>
              </a:ln>
              <a:effectLst/>
            </c:spPr>
          </c:marker>
          <c:cat>
            <c:strRef>
              <c:f>Sheet1!$A$2:$A$4</c:f>
              <c:strCache>
                <c:ptCount val="3"/>
                <c:pt idx="0">
                  <c:v>2014</c:v>
                </c:pt>
                <c:pt idx="1">
                  <c:v>2015</c:v>
                </c:pt>
                <c:pt idx="2">
                  <c:v>2016 (to 16 Nov)</c:v>
                </c:pt>
              </c:strCache>
            </c:strRef>
          </c:cat>
          <c:val>
            <c:numRef>
              <c:f>Sheet1!$B$2:$B$4</c:f>
              <c:numCache>
                <c:formatCode>General</c:formatCode>
                <c:ptCount val="3"/>
                <c:pt idx="0">
                  <c:v>33.450000000000003</c:v>
                </c:pt>
                <c:pt idx="1">
                  <c:v>37.33</c:v>
                </c:pt>
                <c:pt idx="2">
                  <c:v>36.270000000000003</c:v>
                </c:pt>
              </c:numCache>
            </c:numRef>
          </c:val>
          <c:smooth val="0"/>
          <c:extLst>
            <c:ext xmlns:c16="http://schemas.microsoft.com/office/drawing/2014/chart" uri="{C3380CC4-5D6E-409C-BE32-E72D297353CC}">
              <c16:uniqueId val="{00000000-85E4-48FA-9260-DC4C757540E3}"/>
            </c:ext>
          </c:extLst>
        </c:ser>
        <c:ser>
          <c:idx val="1"/>
          <c:order val="1"/>
          <c:tx>
            <c:strRef>
              <c:f>Sheet1!$C$1</c:f>
              <c:strCache>
                <c:ptCount val="1"/>
                <c:pt idx="0">
                  <c:v>Avg cost per unit</c:v>
                </c:pt>
              </c:strCache>
            </c:strRef>
          </c:tx>
          <c:spPr>
            <a:ln w="38100" cap="flat">
              <a:solidFill>
                <a:srgbClr val="F26B21"/>
              </a:solidFill>
              <a:prstDash val="solid"/>
              <a:round/>
            </a:ln>
            <a:effectLst/>
          </c:spPr>
          <c:marker>
            <c:symbol val="circle"/>
            <c:size val="9"/>
            <c:spPr>
              <a:solidFill>
                <a:srgbClr val="F26B21"/>
              </a:solidFill>
              <a:ln w="9525" cap="flat">
                <a:solidFill>
                  <a:srgbClr val="F26B21"/>
                </a:solidFill>
                <a:prstDash val="solid"/>
                <a:round/>
              </a:ln>
              <a:effectLst/>
            </c:spPr>
          </c:marker>
          <c:cat>
            <c:strRef>
              <c:f>Sheet1!$A$2:$A$4</c:f>
              <c:strCache>
                <c:ptCount val="3"/>
                <c:pt idx="0">
                  <c:v>2014</c:v>
                </c:pt>
                <c:pt idx="1">
                  <c:v>2015</c:v>
                </c:pt>
                <c:pt idx="2">
                  <c:v>2016 (to 16 Nov)</c:v>
                </c:pt>
              </c:strCache>
            </c:strRef>
          </c:cat>
          <c:val>
            <c:numRef>
              <c:f>Sheet1!$C$2:$C$4</c:f>
              <c:numCache>
                <c:formatCode>General</c:formatCode>
                <c:ptCount val="3"/>
                <c:pt idx="0">
                  <c:v>34.46</c:v>
                </c:pt>
                <c:pt idx="1">
                  <c:v>39.6</c:v>
                </c:pt>
                <c:pt idx="2">
                  <c:v>37</c:v>
                </c:pt>
              </c:numCache>
            </c:numRef>
          </c:val>
          <c:smooth val="0"/>
          <c:extLst>
            <c:ext xmlns:c16="http://schemas.microsoft.com/office/drawing/2014/chart" uri="{C3380CC4-5D6E-409C-BE32-E72D297353CC}">
              <c16:uniqueId val="{00000001-85E4-48FA-9260-DC4C757540E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max val="42"/>
          <c:min val="30"/>
        </c:scaling>
        <c:delete val="0"/>
        <c:axPos val="l"/>
        <c:majorGridlines>
          <c:spPr>
            <a:ln w="6350" cap="flat">
              <a:solidFill>
                <a:srgbClr val="DDE5E8"/>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Cost above Price, per Unit (R)</a:t>
            </a:r>
          </a:p>
        </c:rich>
      </c:tx>
      <c:overlay val="0"/>
    </c:title>
    <c:autoTitleDeleted val="0"/>
    <c:plotArea>
      <c:layout/>
      <c:barChart>
        <c:barDir val="col"/>
        <c:grouping val="clustered"/>
        <c:varyColors val="0"/>
        <c:ser>
          <c:idx val="0"/>
          <c:order val="0"/>
          <c:tx>
            <c:strRef>
              <c:f>Sheet1!$B$1</c:f>
              <c:strCache>
                <c:ptCount val="1"/>
                <c:pt idx="0">
                  <c:v>Loss per unit</c:v>
                </c:pt>
              </c:strCache>
            </c:strRef>
          </c:tx>
          <c:spPr>
            <a:solidFill>
              <a:srgbClr val="D64545"/>
            </a:solidFill>
            <a:effectLst/>
          </c:spPr>
          <c:invertIfNegative val="0"/>
          <c:dLbls>
            <c:numFmt formatCode="&quot;R&quot;0.00"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2014</c:v>
                </c:pt>
                <c:pt idx="1">
                  <c:v>2015</c:v>
                </c:pt>
                <c:pt idx="2">
                  <c:v>2016 (to 16 Nov)</c:v>
                </c:pt>
              </c:strCache>
            </c:strRef>
          </c:cat>
          <c:val>
            <c:numRef>
              <c:f>Sheet1!$B$2:$B$4</c:f>
              <c:numCache>
                <c:formatCode>General</c:formatCode>
                <c:ptCount val="3"/>
                <c:pt idx="0">
                  <c:v>1</c:v>
                </c:pt>
                <c:pt idx="1">
                  <c:v>2.27</c:v>
                </c:pt>
                <c:pt idx="2">
                  <c:v>0.72</c:v>
                </c:pt>
              </c:numCache>
            </c:numRef>
          </c:val>
          <c:extLst>
            <c:ext xmlns:c16="http://schemas.microsoft.com/office/drawing/2014/chart" uri="{C3380CC4-5D6E-409C-BE32-E72D297353CC}">
              <c16:uniqueId val="{00000000-0D5B-4E67-B0D7-F982DF20753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max val="3"/>
          <c:min val="0"/>
        </c:scaling>
        <c:delete val="0"/>
        <c:axPos val="l"/>
        <c:majorGridlines>
          <c:spPr>
            <a:ln w="6350" cap="flat">
              <a:solidFill>
                <a:srgbClr val="DDE5E8"/>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Monthly Gross Profit, Jan 2014 – Oct 2016 (R thousands)</a:t>
            </a:r>
          </a:p>
        </c:rich>
      </c:tx>
      <c:overlay val="0"/>
    </c:title>
    <c:autoTitleDeleted val="0"/>
    <c:plotArea>
      <c:layout/>
      <c:barChart>
        <c:barDir val="col"/>
        <c:grouping val="clustered"/>
        <c:varyColors val="0"/>
        <c:ser>
          <c:idx val="0"/>
          <c:order val="0"/>
          <c:tx>
            <c:strRef>
              <c:f>Sheet1!$B$1</c:f>
              <c:strCache>
                <c:ptCount val="1"/>
                <c:pt idx="0">
                  <c:v>Gross profit (R K)</c:v>
                </c:pt>
              </c:strCache>
            </c:strRef>
          </c:tx>
          <c:spPr>
            <a:solidFill>
              <a:srgbClr val="2E9E6B"/>
            </a:solidFill>
            <a:effectLst/>
          </c:spPr>
          <c:invertIfNegative val="0"/>
          <c:dPt>
            <c:idx val="0"/>
            <c:invertIfNegative val="0"/>
            <c:bubble3D val="0"/>
            <c:extLst>
              <c:ext xmlns:c16="http://schemas.microsoft.com/office/drawing/2014/chart" uri="{C3380CC4-5D6E-409C-BE32-E72D297353CC}">
                <c16:uniqueId val="{00000001-12D1-4CBC-8992-F43A58314168}"/>
              </c:ext>
            </c:extLst>
          </c:dPt>
          <c:dPt>
            <c:idx val="1"/>
            <c:invertIfNegative val="0"/>
            <c:bubble3D val="0"/>
            <c:spPr>
              <a:solidFill>
                <a:srgbClr val="D64545"/>
              </a:solidFill>
              <a:effectLst/>
            </c:spPr>
            <c:extLst>
              <c:ext xmlns:c16="http://schemas.microsoft.com/office/drawing/2014/chart" uri="{C3380CC4-5D6E-409C-BE32-E72D297353CC}">
                <c16:uniqueId val="{00000003-12D1-4CBC-8992-F43A58314168}"/>
              </c:ext>
            </c:extLst>
          </c:dPt>
          <c:dPt>
            <c:idx val="2"/>
            <c:invertIfNegative val="0"/>
            <c:bubble3D val="0"/>
            <c:spPr>
              <a:solidFill>
                <a:srgbClr val="D64545"/>
              </a:solidFill>
              <a:effectLst/>
            </c:spPr>
            <c:extLst>
              <c:ext xmlns:c16="http://schemas.microsoft.com/office/drawing/2014/chart" uri="{C3380CC4-5D6E-409C-BE32-E72D297353CC}">
                <c16:uniqueId val="{00000005-12D1-4CBC-8992-F43A58314168}"/>
              </c:ext>
            </c:extLst>
          </c:dPt>
          <c:dPt>
            <c:idx val="3"/>
            <c:invertIfNegative val="0"/>
            <c:bubble3D val="0"/>
            <c:spPr>
              <a:solidFill>
                <a:srgbClr val="D64545"/>
              </a:solidFill>
              <a:effectLst/>
            </c:spPr>
            <c:extLst>
              <c:ext xmlns:c16="http://schemas.microsoft.com/office/drawing/2014/chart" uri="{C3380CC4-5D6E-409C-BE32-E72D297353CC}">
                <c16:uniqueId val="{00000007-12D1-4CBC-8992-F43A58314168}"/>
              </c:ext>
            </c:extLst>
          </c:dPt>
          <c:dPt>
            <c:idx val="4"/>
            <c:invertIfNegative val="0"/>
            <c:bubble3D val="0"/>
            <c:spPr>
              <a:solidFill>
                <a:srgbClr val="D64545"/>
              </a:solidFill>
              <a:effectLst/>
            </c:spPr>
            <c:extLst>
              <c:ext xmlns:c16="http://schemas.microsoft.com/office/drawing/2014/chart" uri="{C3380CC4-5D6E-409C-BE32-E72D297353CC}">
                <c16:uniqueId val="{00000009-12D1-4CBC-8992-F43A58314168}"/>
              </c:ext>
            </c:extLst>
          </c:dPt>
          <c:dPt>
            <c:idx val="5"/>
            <c:invertIfNegative val="0"/>
            <c:bubble3D val="0"/>
            <c:spPr>
              <a:solidFill>
                <a:srgbClr val="D64545"/>
              </a:solidFill>
              <a:effectLst/>
            </c:spPr>
            <c:extLst>
              <c:ext xmlns:c16="http://schemas.microsoft.com/office/drawing/2014/chart" uri="{C3380CC4-5D6E-409C-BE32-E72D297353CC}">
                <c16:uniqueId val="{0000000B-12D1-4CBC-8992-F43A58314168}"/>
              </c:ext>
            </c:extLst>
          </c:dPt>
          <c:dPt>
            <c:idx val="6"/>
            <c:invertIfNegative val="0"/>
            <c:bubble3D val="0"/>
            <c:spPr>
              <a:solidFill>
                <a:srgbClr val="D64545"/>
              </a:solidFill>
              <a:effectLst/>
            </c:spPr>
            <c:extLst>
              <c:ext xmlns:c16="http://schemas.microsoft.com/office/drawing/2014/chart" uri="{C3380CC4-5D6E-409C-BE32-E72D297353CC}">
                <c16:uniqueId val="{0000000D-12D1-4CBC-8992-F43A58314168}"/>
              </c:ext>
            </c:extLst>
          </c:dPt>
          <c:dPt>
            <c:idx val="7"/>
            <c:invertIfNegative val="0"/>
            <c:bubble3D val="0"/>
            <c:spPr>
              <a:solidFill>
                <a:srgbClr val="D64545"/>
              </a:solidFill>
              <a:effectLst/>
            </c:spPr>
            <c:extLst>
              <c:ext xmlns:c16="http://schemas.microsoft.com/office/drawing/2014/chart" uri="{C3380CC4-5D6E-409C-BE32-E72D297353CC}">
                <c16:uniqueId val="{0000000F-12D1-4CBC-8992-F43A58314168}"/>
              </c:ext>
            </c:extLst>
          </c:dPt>
          <c:dPt>
            <c:idx val="8"/>
            <c:invertIfNegative val="0"/>
            <c:bubble3D val="0"/>
            <c:spPr>
              <a:solidFill>
                <a:srgbClr val="D64545"/>
              </a:solidFill>
              <a:effectLst/>
            </c:spPr>
            <c:extLst>
              <c:ext xmlns:c16="http://schemas.microsoft.com/office/drawing/2014/chart" uri="{C3380CC4-5D6E-409C-BE32-E72D297353CC}">
                <c16:uniqueId val="{00000011-12D1-4CBC-8992-F43A58314168}"/>
              </c:ext>
            </c:extLst>
          </c:dPt>
          <c:dPt>
            <c:idx val="9"/>
            <c:invertIfNegative val="0"/>
            <c:bubble3D val="0"/>
            <c:spPr>
              <a:solidFill>
                <a:srgbClr val="D64545"/>
              </a:solidFill>
              <a:effectLst/>
            </c:spPr>
            <c:extLst>
              <c:ext xmlns:c16="http://schemas.microsoft.com/office/drawing/2014/chart" uri="{C3380CC4-5D6E-409C-BE32-E72D297353CC}">
                <c16:uniqueId val="{00000013-12D1-4CBC-8992-F43A58314168}"/>
              </c:ext>
            </c:extLst>
          </c:dPt>
          <c:dPt>
            <c:idx val="10"/>
            <c:invertIfNegative val="0"/>
            <c:bubble3D val="0"/>
            <c:extLst>
              <c:ext xmlns:c16="http://schemas.microsoft.com/office/drawing/2014/chart" uri="{C3380CC4-5D6E-409C-BE32-E72D297353CC}">
                <c16:uniqueId val="{00000015-12D1-4CBC-8992-F43A58314168}"/>
              </c:ext>
            </c:extLst>
          </c:dPt>
          <c:dPt>
            <c:idx val="11"/>
            <c:invertIfNegative val="0"/>
            <c:bubble3D val="0"/>
            <c:spPr>
              <a:solidFill>
                <a:srgbClr val="D64545"/>
              </a:solidFill>
              <a:effectLst/>
            </c:spPr>
            <c:extLst>
              <c:ext xmlns:c16="http://schemas.microsoft.com/office/drawing/2014/chart" uri="{C3380CC4-5D6E-409C-BE32-E72D297353CC}">
                <c16:uniqueId val="{00000017-12D1-4CBC-8992-F43A58314168}"/>
              </c:ext>
            </c:extLst>
          </c:dPt>
          <c:dPt>
            <c:idx val="12"/>
            <c:invertIfNegative val="0"/>
            <c:bubble3D val="0"/>
            <c:spPr>
              <a:solidFill>
                <a:srgbClr val="D64545"/>
              </a:solidFill>
              <a:effectLst/>
            </c:spPr>
            <c:extLst>
              <c:ext xmlns:c16="http://schemas.microsoft.com/office/drawing/2014/chart" uri="{C3380CC4-5D6E-409C-BE32-E72D297353CC}">
                <c16:uniqueId val="{00000019-12D1-4CBC-8992-F43A58314168}"/>
              </c:ext>
            </c:extLst>
          </c:dPt>
          <c:dPt>
            <c:idx val="13"/>
            <c:invertIfNegative val="0"/>
            <c:bubble3D val="0"/>
            <c:spPr>
              <a:solidFill>
                <a:srgbClr val="D64545"/>
              </a:solidFill>
              <a:effectLst/>
            </c:spPr>
            <c:extLst>
              <c:ext xmlns:c16="http://schemas.microsoft.com/office/drawing/2014/chart" uri="{C3380CC4-5D6E-409C-BE32-E72D297353CC}">
                <c16:uniqueId val="{0000001B-12D1-4CBC-8992-F43A58314168}"/>
              </c:ext>
            </c:extLst>
          </c:dPt>
          <c:dPt>
            <c:idx val="14"/>
            <c:invertIfNegative val="0"/>
            <c:bubble3D val="0"/>
            <c:spPr>
              <a:solidFill>
                <a:srgbClr val="D64545"/>
              </a:solidFill>
              <a:effectLst/>
            </c:spPr>
            <c:extLst>
              <c:ext xmlns:c16="http://schemas.microsoft.com/office/drawing/2014/chart" uri="{C3380CC4-5D6E-409C-BE32-E72D297353CC}">
                <c16:uniqueId val="{0000001D-12D1-4CBC-8992-F43A58314168}"/>
              </c:ext>
            </c:extLst>
          </c:dPt>
          <c:dPt>
            <c:idx val="15"/>
            <c:invertIfNegative val="0"/>
            <c:bubble3D val="0"/>
            <c:spPr>
              <a:solidFill>
                <a:srgbClr val="D64545"/>
              </a:solidFill>
              <a:effectLst/>
            </c:spPr>
            <c:extLst>
              <c:ext xmlns:c16="http://schemas.microsoft.com/office/drawing/2014/chart" uri="{C3380CC4-5D6E-409C-BE32-E72D297353CC}">
                <c16:uniqueId val="{0000001F-12D1-4CBC-8992-F43A58314168}"/>
              </c:ext>
            </c:extLst>
          </c:dPt>
          <c:dPt>
            <c:idx val="16"/>
            <c:invertIfNegative val="0"/>
            <c:bubble3D val="0"/>
            <c:spPr>
              <a:solidFill>
                <a:srgbClr val="D64545"/>
              </a:solidFill>
              <a:effectLst/>
            </c:spPr>
            <c:extLst>
              <c:ext xmlns:c16="http://schemas.microsoft.com/office/drawing/2014/chart" uri="{C3380CC4-5D6E-409C-BE32-E72D297353CC}">
                <c16:uniqueId val="{00000021-12D1-4CBC-8992-F43A58314168}"/>
              </c:ext>
            </c:extLst>
          </c:dPt>
          <c:dPt>
            <c:idx val="17"/>
            <c:invertIfNegative val="0"/>
            <c:bubble3D val="0"/>
            <c:spPr>
              <a:solidFill>
                <a:srgbClr val="D64545"/>
              </a:solidFill>
              <a:effectLst/>
            </c:spPr>
            <c:extLst>
              <c:ext xmlns:c16="http://schemas.microsoft.com/office/drawing/2014/chart" uri="{C3380CC4-5D6E-409C-BE32-E72D297353CC}">
                <c16:uniqueId val="{00000023-12D1-4CBC-8992-F43A58314168}"/>
              </c:ext>
            </c:extLst>
          </c:dPt>
          <c:dPt>
            <c:idx val="18"/>
            <c:invertIfNegative val="0"/>
            <c:bubble3D val="0"/>
            <c:spPr>
              <a:solidFill>
                <a:srgbClr val="D64545"/>
              </a:solidFill>
              <a:effectLst/>
            </c:spPr>
            <c:extLst>
              <c:ext xmlns:c16="http://schemas.microsoft.com/office/drawing/2014/chart" uri="{C3380CC4-5D6E-409C-BE32-E72D297353CC}">
                <c16:uniqueId val="{00000025-12D1-4CBC-8992-F43A58314168}"/>
              </c:ext>
            </c:extLst>
          </c:dPt>
          <c:dPt>
            <c:idx val="19"/>
            <c:invertIfNegative val="0"/>
            <c:bubble3D val="0"/>
            <c:spPr>
              <a:solidFill>
                <a:srgbClr val="D64545"/>
              </a:solidFill>
              <a:effectLst/>
            </c:spPr>
            <c:extLst>
              <c:ext xmlns:c16="http://schemas.microsoft.com/office/drawing/2014/chart" uri="{C3380CC4-5D6E-409C-BE32-E72D297353CC}">
                <c16:uniqueId val="{00000027-12D1-4CBC-8992-F43A58314168}"/>
              </c:ext>
            </c:extLst>
          </c:dPt>
          <c:dPt>
            <c:idx val="20"/>
            <c:invertIfNegative val="0"/>
            <c:bubble3D val="0"/>
            <c:spPr>
              <a:solidFill>
                <a:srgbClr val="D64545"/>
              </a:solidFill>
              <a:effectLst/>
            </c:spPr>
            <c:extLst>
              <c:ext xmlns:c16="http://schemas.microsoft.com/office/drawing/2014/chart" uri="{C3380CC4-5D6E-409C-BE32-E72D297353CC}">
                <c16:uniqueId val="{00000029-12D1-4CBC-8992-F43A58314168}"/>
              </c:ext>
            </c:extLst>
          </c:dPt>
          <c:dPt>
            <c:idx val="21"/>
            <c:invertIfNegative val="0"/>
            <c:bubble3D val="0"/>
            <c:spPr>
              <a:solidFill>
                <a:srgbClr val="D64545"/>
              </a:solidFill>
              <a:effectLst/>
            </c:spPr>
            <c:extLst>
              <c:ext xmlns:c16="http://schemas.microsoft.com/office/drawing/2014/chart" uri="{C3380CC4-5D6E-409C-BE32-E72D297353CC}">
                <c16:uniqueId val="{0000002B-12D1-4CBC-8992-F43A58314168}"/>
              </c:ext>
            </c:extLst>
          </c:dPt>
          <c:dPt>
            <c:idx val="22"/>
            <c:invertIfNegative val="0"/>
            <c:bubble3D val="0"/>
            <c:spPr>
              <a:solidFill>
                <a:srgbClr val="D64545"/>
              </a:solidFill>
              <a:effectLst/>
            </c:spPr>
            <c:extLst>
              <c:ext xmlns:c16="http://schemas.microsoft.com/office/drawing/2014/chart" uri="{C3380CC4-5D6E-409C-BE32-E72D297353CC}">
                <c16:uniqueId val="{0000002D-12D1-4CBC-8992-F43A58314168}"/>
              </c:ext>
            </c:extLst>
          </c:dPt>
          <c:dPt>
            <c:idx val="23"/>
            <c:invertIfNegative val="0"/>
            <c:bubble3D val="0"/>
            <c:spPr>
              <a:solidFill>
                <a:srgbClr val="D64545"/>
              </a:solidFill>
              <a:effectLst/>
            </c:spPr>
            <c:extLst>
              <c:ext xmlns:c16="http://schemas.microsoft.com/office/drawing/2014/chart" uri="{C3380CC4-5D6E-409C-BE32-E72D297353CC}">
                <c16:uniqueId val="{0000002F-12D1-4CBC-8992-F43A58314168}"/>
              </c:ext>
            </c:extLst>
          </c:dPt>
          <c:dPt>
            <c:idx val="24"/>
            <c:invertIfNegative val="0"/>
            <c:bubble3D val="0"/>
            <c:spPr>
              <a:solidFill>
                <a:srgbClr val="D64545"/>
              </a:solidFill>
              <a:effectLst/>
            </c:spPr>
            <c:extLst>
              <c:ext xmlns:c16="http://schemas.microsoft.com/office/drawing/2014/chart" uri="{C3380CC4-5D6E-409C-BE32-E72D297353CC}">
                <c16:uniqueId val="{00000031-12D1-4CBC-8992-F43A58314168}"/>
              </c:ext>
            </c:extLst>
          </c:dPt>
          <c:dPt>
            <c:idx val="25"/>
            <c:invertIfNegative val="0"/>
            <c:bubble3D val="0"/>
            <c:extLst>
              <c:ext xmlns:c16="http://schemas.microsoft.com/office/drawing/2014/chart" uri="{C3380CC4-5D6E-409C-BE32-E72D297353CC}">
                <c16:uniqueId val="{00000033-12D1-4CBC-8992-F43A58314168}"/>
              </c:ext>
            </c:extLst>
          </c:dPt>
          <c:dPt>
            <c:idx val="26"/>
            <c:invertIfNegative val="0"/>
            <c:bubble3D val="0"/>
            <c:extLst>
              <c:ext xmlns:c16="http://schemas.microsoft.com/office/drawing/2014/chart" uri="{C3380CC4-5D6E-409C-BE32-E72D297353CC}">
                <c16:uniqueId val="{00000035-12D1-4CBC-8992-F43A58314168}"/>
              </c:ext>
            </c:extLst>
          </c:dPt>
          <c:dPt>
            <c:idx val="27"/>
            <c:invertIfNegative val="0"/>
            <c:bubble3D val="0"/>
            <c:spPr>
              <a:solidFill>
                <a:srgbClr val="D64545"/>
              </a:solidFill>
              <a:effectLst/>
            </c:spPr>
            <c:extLst>
              <c:ext xmlns:c16="http://schemas.microsoft.com/office/drawing/2014/chart" uri="{C3380CC4-5D6E-409C-BE32-E72D297353CC}">
                <c16:uniqueId val="{00000037-12D1-4CBC-8992-F43A58314168}"/>
              </c:ext>
            </c:extLst>
          </c:dPt>
          <c:dPt>
            <c:idx val="28"/>
            <c:invertIfNegative val="0"/>
            <c:bubble3D val="0"/>
            <c:spPr>
              <a:solidFill>
                <a:srgbClr val="D64545"/>
              </a:solidFill>
              <a:effectLst/>
            </c:spPr>
            <c:extLst>
              <c:ext xmlns:c16="http://schemas.microsoft.com/office/drawing/2014/chart" uri="{C3380CC4-5D6E-409C-BE32-E72D297353CC}">
                <c16:uniqueId val="{00000039-12D1-4CBC-8992-F43A58314168}"/>
              </c:ext>
            </c:extLst>
          </c:dPt>
          <c:dPt>
            <c:idx val="29"/>
            <c:invertIfNegative val="0"/>
            <c:bubble3D val="0"/>
            <c:spPr>
              <a:solidFill>
                <a:srgbClr val="D64545"/>
              </a:solidFill>
              <a:effectLst/>
            </c:spPr>
            <c:extLst>
              <c:ext xmlns:c16="http://schemas.microsoft.com/office/drawing/2014/chart" uri="{C3380CC4-5D6E-409C-BE32-E72D297353CC}">
                <c16:uniqueId val="{0000003B-12D1-4CBC-8992-F43A58314168}"/>
              </c:ext>
            </c:extLst>
          </c:dPt>
          <c:dPt>
            <c:idx val="30"/>
            <c:invertIfNegative val="0"/>
            <c:bubble3D val="0"/>
            <c:extLst>
              <c:ext xmlns:c16="http://schemas.microsoft.com/office/drawing/2014/chart" uri="{C3380CC4-5D6E-409C-BE32-E72D297353CC}">
                <c16:uniqueId val="{0000003D-12D1-4CBC-8992-F43A58314168}"/>
              </c:ext>
            </c:extLst>
          </c:dPt>
          <c:dPt>
            <c:idx val="31"/>
            <c:invertIfNegative val="0"/>
            <c:bubble3D val="0"/>
            <c:spPr>
              <a:solidFill>
                <a:srgbClr val="D64545"/>
              </a:solidFill>
              <a:effectLst/>
            </c:spPr>
            <c:extLst>
              <c:ext xmlns:c16="http://schemas.microsoft.com/office/drawing/2014/chart" uri="{C3380CC4-5D6E-409C-BE32-E72D297353CC}">
                <c16:uniqueId val="{0000003F-12D1-4CBC-8992-F43A58314168}"/>
              </c:ext>
            </c:extLst>
          </c:dPt>
          <c:dPt>
            <c:idx val="32"/>
            <c:invertIfNegative val="0"/>
            <c:bubble3D val="0"/>
            <c:extLst>
              <c:ext xmlns:c16="http://schemas.microsoft.com/office/drawing/2014/chart" uri="{C3380CC4-5D6E-409C-BE32-E72D297353CC}">
                <c16:uniqueId val="{00000041-12D1-4CBC-8992-F43A58314168}"/>
              </c:ext>
            </c:extLst>
          </c:dPt>
          <c:dPt>
            <c:idx val="33"/>
            <c:invertIfNegative val="0"/>
            <c:bubble3D val="0"/>
            <c:extLst>
              <c:ext xmlns:c16="http://schemas.microsoft.com/office/drawing/2014/chart" uri="{C3380CC4-5D6E-409C-BE32-E72D297353CC}">
                <c16:uniqueId val="{00000043-12D1-4CBC-8992-F43A58314168}"/>
              </c:ext>
            </c:extLst>
          </c:dPt>
          <c:cat>
            <c:strRef>
              <c:f>Sheet1!$A$2:$A$35</c:f>
              <c:strCache>
                <c:ptCount val="34"/>
                <c:pt idx="0">
                  <c:v>Jan '14</c:v>
                </c:pt>
                <c:pt idx="1">
                  <c:v>Feb '14</c:v>
                </c:pt>
                <c:pt idx="2">
                  <c:v>Mar '14</c:v>
                </c:pt>
                <c:pt idx="3">
                  <c:v>Apr '14</c:v>
                </c:pt>
                <c:pt idx="4">
                  <c:v>May '14</c:v>
                </c:pt>
                <c:pt idx="5">
                  <c:v>Jun '14</c:v>
                </c:pt>
                <c:pt idx="6">
                  <c:v>Jul '14</c:v>
                </c:pt>
                <c:pt idx="7">
                  <c:v>Aug '14</c:v>
                </c:pt>
                <c:pt idx="8">
                  <c:v>Sep '14</c:v>
                </c:pt>
                <c:pt idx="9">
                  <c:v>Oct '14</c:v>
                </c:pt>
                <c:pt idx="10">
                  <c:v>Nov '14</c:v>
                </c:pt>
                <c:pt idx="11">
                  <c:v>Dec '14</c:v>
                </c:pt>
                <c:pt idx="12">
                  <c:v>Jan '15</c:v>
                </c:pt>
                <c:pt idx="13">
                  <c:v>Feb '15</c:v>
                </c:pt>
                <c:pt idx="14">
                  <c:v>Mar '15</c:v>
                </c:pt>
                <c:pt idx="15">
                  <c:v>Apr '15</c:v>
                </c:pt>
                <c:pt idx="16">
                  <c:v>May '15</c:v>
                </c:pt>
                <c:pt idx="17">
                  <c:v>Jun '15</c:v>
                </c:pt>
                <c:pt idx="18">
                  <c:v>Jul '15</c:v>
                </c:pt>
                <c:pt idx="19">
                  <c:v>Aug '15</c:v>
                </c:pt>
                <c:pt idx="20">
                  <c:v>Sep '15</c:v>
                </c:pt>
                <c:pt idx="21">
                  <c:v>Oct '15</c:v>
                </c:pt>
                <c:pt idx="22">
                  <c:v>Nov '15</c:v>
                </c:pt>
                <c:pt idx="23">
                  <c:v>Dec '15</c:v>
                </c:pt>
                <c:pt idx="24">
                  <c:v>Jan '16</c:v>
                </c:pt>
                <c:pt idx="25">
                  <c:v>Feb '16</c:v>
                </c:pt>
                <c:pt idx="26">
                  <c:v>Mar '16</c:v>
                </c:pt>
                <c:pt idx="27">
                  <c:v>Apr '16</c:v>
                </c:pt>
                <c:pt idx="28">
                  <c:v>May '16</c:v>
                </c:pt>
                <c:pt idx="29">
                  <c:v>Jun '16</c:v>
                </c:pt>
                <c:pt idx="30">
                  <c:v>Jul '16</c:v>
                </c:pt>
                <c:pt idx="31">
                  <c:v>Aug '16</c:v>
                </c:pt>
                <c:pt idx="32">
                  <c:v>Sep '16</c:v>
                </c:pt>
                <c:pt idx="33">
                  <c:v>Oct '16</c:v>
                </c:pt>
              </c:strCache>
            </c:strRef>
          </c:cat>
          <c:val>
            <c:numRef>
              <c:f>Sheet1!$B$2:$B$35</c:f>
              <c:numCache>
                <c:formatCode>General</c:formatCode>
                <c:ptCount val="34"/>
                <c:pt idx="0">
                  <c:v>12</c:v>
                </c:pt>
                <c:pt idx="1">
                  <c:v>-133</c:v>
                </c:pt>
                <c:pt idx="2">
                  <c:v>-136</c:v>
                </c:pt>
                <c:pt idx="3">
                  <c:v>-44</c:v>
                </c:pt>
                <c:pt idx="4">
                  <c:v>-322</c:v>
                </c:pt>
                <c:pt idx="5">
                  <c:v>-189</c:v>
                </c:pt>
                <c:pt idx="6">
                  <c:v>-71</c:v>
                </c:pt>
                <c:pt idx="7">
                  <c:v>-514</c:v>
                </c:pt>
                <c:pt idx="8">
                  <c:v>-550</c:v>
                </c:pt>
                <c:pt idx="9">
                  <c:v>-114</c:v>
                </c:pt>
                <c:pt idx="10">
                  <c:v>114</c:v>
                </c:pt>
                <c:pt idx="11">
                  <c:v>-319</c:v>
                </c:pt>
                <c:pt idx="12">
                  <c:v>-155</c:v>
                </c:pt>
                <c:pt idx="13">
                  <c:v>-250</c:v>
                </c:pt>
                <c:pt idx="14">
                  <c:v>-330</c:v>
                </c:pt>
                <c:pt idx="15">
                  <c:v>-323</c:v>
                </c:pt>
                <c:pt idx="16">
                  <c:v>-589</c:v>
                </c:pt>
                <c:pt idx="17">
                  <c:v>-189</c:v>
                </c:pt>
                <c:pt idx="18">
                  <c:v>-151</c:v>
                </c:pt>
                <c:pt idx="19">
                  <c:v>-276</c:v>
                </c:pt>
                <c:pt idx="20">
                  <c:v>-355</c:v>
                </c:pt>
                <c:pt idx="21">
                  <c:v>-347</c:v>
                </c:pt>
                <c:pt idx="22">
                  <c:v>-601</c:v>
                </c:pt>
                <c:pt idx="23">
                  <c:v>-334</c:v>
                </c:pt>
                <c:pt idx="24">
                  <c:v>-254</c:v>
                </c:pt>
                <c:pt idx="25">
                  <c:v>3</c:v>
                </c:pt>
                <c:pt idx="26">
                  <c:v>34</c:v>
                </c:pt>
                <c:pt idx="27">
                  <c:v>-471</c:v>
                </c:pt>
                <c:pt idx="28">
                  <c:v>-168</c:v>
                </c:pt>
                <c:pt idx="29">
                  <c:v>-397</c:v>
                </c:pt>
                <c:pt idx="30">
                  <c:v>56</c:v>
                </c:pt>
                <c:pt idx="31">
                  <c:v>-136</c:v>
                </c:pt>
                <c:pt idx="32">
                  <c:v>49</c:v>
                </c:pt>
                <c:pt idx="33">
                  <c:v>220</c:v>
                </c:pt>
              </c:numCache>
            </c:numRef>
          </c:val>
          <c:extLst>
            <c:ext xmlns:c16="http://schemas.microsoft.com/office/drawing/2014/chart" uri="{C3380CC4-5D6E-409C-BE32-E72D297353CC}">
              <c16:uniqueId val="{00000044-12D1-4CBC-8992-F43A58314168}"/>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9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5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Daily Sales by Period (R thousands)</a:t>
            </a:r>
          </a:p>
        </c:rich>
      </c:tx>
      <c:overlay val="0"/>
    </c:title>
    <c:autoTitleDeleted val="0"/>
    <c:plotArea>
      <c:layout/>
      <c:barChart>
        <c:barDir val="bar"/>
        <c:grouping val="clustered"/>
        <c:varyColors val="0"/>
        <c:ser>
          <c:idx val="0"/>
          <c:order val="0"/>
          <c:tx>
            <c:strRef>
              <c:f>Sheet1!$B$1</c:f>
              <c:strCache>
                <c:ptCount val="1"/>
                <c:pt idx="0">
                  <c:v>Avg daily sales</c:v>
                </c:pt>
              </c:strCache>
            </c:strRef>
          </c:tx>
          <c:spPr>
            <a:solidFill>
              <a:srgbClr val="F26B21"/>
            </a:solidFill>
            <a:effectLst/>
          </c:spPr>
          <c:invertIfNegative val="0"/>
          <c:dPt>
            <c:idx val="0"/>
            <c:invertIfNegative val="0"/>
            <c:bubble3D val="0"/>
            <c:extLst>
              <c:ext xmlns:c16="http://schemas.microsoft.com/office/drawing/2014/chart" uri="{C3380CC4-5D6E-409C-BE32-E72D297353CC}">
                <c16:uniqueId val="{00000001-ECD0-4226-B540-9BE1B80B35DA}"/>
              </c:ext>
            </c:extLst>
          </c:dPt>
          <c:dPt>
            <c:idx val="1"/>
            <c:invertIfNegative val="0"/>
            <c:bubble3D val="0"/>
            <c:spPr>
              <a:solidFill>
                <a:srgbClr val="009BA4"/>
              </a:solidFill>
              <a:effectLst/>
            </c:spPr>
            <c:extLst>
              <c:ext xmlns:c16="http://schemas.microsoft.com/office/drawing/2014/chart" uri="{C3380CC4-5D6E-409C-BE32-E72D297353CC}">
                <c16:uniqueId val="{00000003-ECD0-4226-B540-9BE1B80B35DA}"/>
              </c:ext>
            </c:extLst>
          </c:dPt>
          <c:dPt>
            <c:idx val="2"/>
            <c:invertIfNegative val="0"/>
            <c:bubble3D val="0"/>
            <c:spPr>
              <a:solidFill>
                <a:srgbClr val="009BA4"/>
              </a:solidFill>
              <a:effectLst/>
            </c:spPr>
            <c:extLst>
              <c:ext xmlns:c16="http://schemas.microsoft.com/office/drawing/2014/chart" uri="{C3380CC4-5D6E-409C-BE32-E72D297353CC}">
                <c16:uniqueId val="{00000005-ECD0-4226-B540-9BE1B80B35DA}"/>
              </c:ext>
            </c:extLst>
          </c:dPt>
          <c:dPt>
            <c:idx val="3"/>
            <c:invertIfNegative val="0"/>
            <c:bubble3D val="0"/>
            <c:spPr>
              <a:solidFill>
                <a:srgbClr val="009BA4"/>
              </a:solidFill>
              <a:effectLst/>
            </c:spPr>
            <c:extLst>
              <c:ext xmlns:c16="http://schemas.microsoft.com/office/drawing/2014/chart" uri="{C3380CC4-5D6E-409C-BE32-E72D297353CC}">
                <c16:uniqueId val="{00000007-ECD0-4226-B540-9BE1B80B35DA}"/>
              </c:ext>
            </c:extLst>
          </c:dPt>
          <c:dPt>
            <c:idx val="4"/>
            <c:invertIfNegative val="0"/>
            <c:bubble3D val="0"/>
            <c:spPr>
              <a:solidFill>
                <a:srgbClr val="9AA9AF"/>
              </a:solidFill>
              <a:effectLst/>
            </c:spPr>
            <c:extLst>
              <c:ext xmlns:c16="http://schemas.microsoft.com/office/drawing/2014/chart" uri="{C3380CC4-5D6E-409C-BE32-E72D297353CC}">
                <c16:uniqueId val="{00000009-ECD0-4226-B540-9BE1B80B35DA}"/>
              </c:ext>
            </c:extLst>
          </c:dPt>
          <c:dLbls>
            <c:numFmt formatCode="&quot;R&quot;0&quot;K&quot;"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Promo 3</c:v>
                </c:pt>
                <c:pt idx="1">
                  <c:v>Promo 4</c:v>
                </c:pt>
                <c:pt idx="2">
                  <c:v>Promo 1</c:v>
                </c:pt>
                <c:pt idx="3">
                  <c:v>Promo 2</c:v>
                </c:pt>
                <c:pt idx="4">
                  <c:v>Non-promo</c:v>
                </c:pt>
              </c:strCache>
            </c:strRef>
          </c:cat>
          <c:val>
            <c:numRef>
              <c:f>Sheet1!$B$2:$B$6</c:f>
              <c:numCache>
                <c:formatCode>General</c:formatCode>
                <c:ptCount val="5"/>
                <c:pt idx="0">
                  <c:v>335.1</c:v>
                </c:pt>
                <c:pt idx="1">
                  <c:v>282.5</c:v>
                </c:pt>
                <c:pt idx="2">
                  <c:v>239.4</c:v>
                </c:pt>
                <c:pt idx="3">
                  <c:v>211.6</c:v>
                </c:pt>
                <c:pt idx="4">
                  <c:v>171.2</c:v>
                </c:pt>
              </c:numCache>
            </c:numRef>
          </c:val>
          <c:extLst>
            <c:ext xmlns:c16="http://schemas.microsoft.com/office/drawing/2014/chart" uri="{C3380CC4-5D6E-409C-BE32-E72D297353CC}">
              <c16:uniqueId val="{0000000A-ECD0-4226-B540-9BE1B80B35DA}"/>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Daily Sales by Month (R thousands)</a:t>
            </a:r>
          </a:p>
        </c:rich>
      </c:tx>
      <c:overlay val="0"/>
    </c:title>
    <c:autoTitleDeleted val="0"/>
    <c:plotArea>
      <c:layout/>
      <c:barChart>
        <c:barDir val="col"/>
        <c:grouping val="clustered"/>
        <c:varyColors val="0"/>
        <c:ser>
          <c:idx val="0"/>
          <c:order val="0"/>
          <c:tx>
            <c:strRef>
              <c:f>Sheet1!$B$1</c:f>
              <c:strCache>
                <c:ptCount val="1"/>
                <c:pt idx="0">
                  <c:v>Avg daily sales</c:v>
                </c:pt>
              </c:strCache>
            </c:strRef>
          </c:tx>
          <c:spPr>
            <a:solidFill>
              <a:srgbClr val="009BA4"/>
            </a:solidFill>
            <a:effectLst/>
          </c:spPr>
          <c:invertIfNegative val="0"/>
          <c:dPt>
            <c:idx val="0"/>
            <c:invertIfNegative val="0"/>
            <c:bubble3D val="0"/>
            <c:extLst>
              <c:ext xmlns:c16="http://schemas.microsoft.com/office/drawing/2014/chart" uri="{C3380CC4-5D6E-409C-BE32-E72D297353CC}">
                <c16:uniqueId val="{00000001-A51B-4D3B-A0D0-87B51413A1AF}"/>
              </c:ext>
            </c:extLst>
          </c:dPt>
          <c:dPt>
            <c:idx val="1"/>
            <c:invertIfNegative val="0"/>
            <c:bubble3D val="0"/>
            <c:extLst>
              <c:ext xmlns:c16="http://schemas.microsoft.com/office/drawing/2014/chart" uri="{C3380CC4-5D6E-409C-BE32-E72D297353CC}">
                <c16:uniqueId val="{00000003-A51B-4D3B-A0D0-87B51413A1AF}"/>
              </c:ext>
            </c:extLst>
          </c:dPt>
          <c:dPt>
            <c:idx val="2"/>
            <c:invertIfNegative val="0"/>
            <c:bubble3D val="0"/>
            <c:extLst>
              <c:ext xmlns:c16="http://schemas.microsoft.com/office/drawing/2014/chart" uri="{C3380CC4-5D6E-409C-BE32-E72D297353CC}">
                <c16:uniqueId val="{00000005-A51B-4D3B-A0D0-87B51413A1AF}"/>
              </c:ext>
            </c:extLst>
          </c:dPt>
          <c:dPt>
            <c:idx val="3"/>
            <c:invertIfNegative val="0"/>
            <c:bubble3D val="0"/>
            <c:extLst>
              <c:ext xmlns:c16="http://schemas.microsoft.com/office/drawing/2014/chart" uri="{C3380CC4-5D6E-409C-BE32-E72D297353CC}">
                <c16:uniqueId val="{00000007-A51B-4D3B-A0D0-87B51413A1AF}"/>
              </c:ext>
            </c:extLst>
          </c:dPt>
          <c:dPt>
            <c:idx val="4"/>
            <c:invertIfNegative val="0"/>
            <c:bubble3D val="0"/>
            <c:spPr>
              <a:solidFill>
                <a:srgbClr val="F26B21"/>
              </a:solidFill>
              <a:effectLst/>
            </c:spPr>
            <c:extLst>
              <c:ext xmlns:c16="http://schemas.microsoft.com/office/drawing/2014/chart" uri="{C3380CC4-5D6E-409C-BE32-E72D297353CC}">
                <c16:uniqueId val="{00000009-A51B-4D3B-A0D0-87B51413A1AF}"/>
              </c:ext>
            </c:extLst>
          </c:dPt>
          <c:dPt>
            <c:idx val="5"/>
            <c:invertIfNegative val="0"/>
            <c:bubble3D val="0"/>
            <c:extLst>
              <c:ext xmlns:c16="http://schemas.microsoft.com/office/drawing/2014/chart" uri="{C3380CC4-5D6E-409C-BE32-E72D297353CC}">
                <c16:uniqueId val="{0000000B-A51B-4D3B-A0D0-87B51413A1AF}"/>
              </c:ext>
            </c:extLst>
          </c:dPt>
          <c:dPt>
            <c:idx val="6"/>
            <c:invertIfNegative val="0"/>
            <c:bubble3D val="0"/>
            <c:spPr>
              <a:solidFill>
                <a:srgbClr val="9AA9AF"/>
              </a:solidFill>
              <a:effectLst/>
            </c:spPr>
            <c:extLst>
              <c:ext xmlns:c16="http://schemas.microsoft.com/office/drawing/2014/chart" uri="{C3380CC4-5D6E-409C-BE32-E72D297353CC}">
                <c16:uniqueId val="{0000000D-A51B-4D3B-A0D0-87B51413A1AF}"/>
              </c:ext>
            </c:extLst>
          </c:dPt>
          <c:dPt>
            <c:idx val="7"/>
            <c:invertIfNegative val="0"/>
            <c:bubble3D val="0"/>
            <c:extLst>
              <c:ext xmlns:c16="http://schemas.microsoft.com/office/drawing/2014/chart" uri="{C3380CC4-5D6E-409C-BE32-E72D297353CC}">
                <c16:uniqueId val="{0000000F-A51B-4D3B-A0D0-87B51413A1AF}"/>
              </c:ext>
            </c:extLst>
          </c:dPt>
          <c:dPt>
            <c:idx val="8"/>
            <c:invertIfNegative val="0"/>
            <c:bubble3D val="0"/>
            <c:extLst>
              <c:ext xmlns:c16="http://schemas.microsoft.com/office/drawing/2014/chart" uri="{C3380CC4-5D6E-409C-BE32-E72D297353CC}">
                <c16:uniqueId val="{00000011-A51B-4D3B-A0D0-87B51413A1AF}"/>
              </c:ext>
            </c:extLst>
          </c:dPt>
          <c:dPt>
            <c:idx val="9"/>
            <c:invertIfNegative val="0"/>
            <c:bubble3D val="0"/>
            <c:extLst>
              <c:ext xmlns:c16="http://schemas.microsoft.com/office/drawing/2014/chart" uri="{C3380CC4-5D6E-409C-BE32-E72D297353CC}">
                <c16:uniqueId val="{00000013-A51B-4D3B-A0D0-87B51413A1AF}"/>
              </c:ext>
            </c:extLst>
          </c:dPt>
          <c:dPt>
            <c:idx val="10"/>
            <c:invertIfNegative val="0"/>
            <c:bubble3D val="0"/>
            <c:extLst>
              <c:ext xmlns:c16="http://schemas.microsoft.com/office/drawing/2014/chart" uri="{C3380CC4-5D6E-409C-BE32-E72D297353CC}">
                <c16:uniqueId val="{00000015-A51B-4D3B-A0D0-87B51413A1AF}"/>
              </c:ext>
            </c:extLst>
          </c:dPt>
          <c:dPt>
            <c:idx val="11"/>
            <c:invertIfNegative val="0"/>
            <c:bubble3D val="0"/>
            <c:extLst>
              <c:ext xmlns:c16="http://schemas.microsoft.com/office/drawing/2014/chart" uri="{C3380CC4-5D6E-409C-BE32-E72D297353CC}">
                <c16:uniqueId val="{00000017-A51B-4D3B-A0D0-87B51413A1AF}"/>
              </c:ext>
            </c:extLst>
          </c:dPt>
          <c:dLbls>
            <c:numFmt formatCode="0" sourceLinked="0"/>
            <c:spPr>
              <a:noFill/>
              <a:ln>
                <a:noFill/>
              </a:ln>
              <a:effectLst/>
            </c:spPr>
            <c:txPr>
              <a:bodyPr/>
              <a:lstStyle/>
              <a:p>
                <a:pPr>
                  <a:defRPr sz="10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141</c:v>
                </c:pt>
                <c:pt idx="1">
                  <c:v>183</c:v>
                </c:pt>
                <c:pt idx="2">
                  <c:v>177</c:v>
                </c:pt>
                <c:pt idx="3">
                  <c:v>212</c:v>
                </c:pt>
                <c:pt idx="4">
                  <c:v>228</c:v>
                </c:pt>
                <c:pt idx="5">
                  <c:v>206</c:v>
                </c:pt>
                <c:pt idx="6">
                  <c:v>128</c:v>
                </c:pt>
                <c:pt idx="7">
                  <c:v>197</c:v>
                </c:pt>
                <c:pt idx="8">
                  <c:v>173</c:v>
                </c:pt>
                <c:pt idx="9">
                  <c:v>141</c:v>
                </c:pt>
                <c:pt idx="10">
                  <c:v>145</c:v>
                </c:pt>
                <c:pt idx="11">
                  <c:v>203</c:v>
                </c:pt>
              </c:numCache>
            </c:numRef>
          </c:val>
          <c:extLst>
            <c:ext xmlns:c16="http://schemas.microsoft.com/office/drawing/2014/chart" uri="{C3380CC4-5D6E-409C-BE32-E72D297353CC}">
              <c16:uniqueId val="{00000018-A51B-4D3B-A0D0-87B51413A1A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Daily Sales by Weekday (R K)</a:t>
            </a:r>
          </a:p>
        </c:rich>
      </c:tx>
      <c:overlay val="0"/>
    </c:title>
    <c:autoTitleDeleted val="0"/>
    <c:plotArea>
      <c:layout/>
      <c:barChart>
        <c:barDir val="col"/>
        <c:grouping val="clustered"/>
        <c:varyColors val="0"/>
        <c:ser>
          <c:idx val="0"/>
          <c:order val="0"/>
          <c:tx>
            <c:strRef>
              <c:f>Sheet1!$B$1</c:f>
              <c:strCache>
                <c:ptCount val="1"/>
                <c:pt idx="0">
                  <c:v>Avg daily sales</c:v>
                </c:pt>
              </c:strCache>
            </c:strRef>
          </c:tx>
          <c:spPr>
            <a:solidFill>
              <a:srgbClr val="009BA4"/>
            </a:solidFill>
            <a:effectLst/>
          </c:spPr>
          <c:invertIfNegative val="0"/>
          <c:dPt>
            <c:idx val="0"/>
            <c:invertIfNegative val="0"/>
            <c:bubble3D val="0"/>
            <c:extLst>
              <c:ext xmlns:c16="http://schemas.microsoft.com/office/drawing/2014/chart" uri="{C3380CC4-5D6E-409C-BE32-E72D297353CC}">
                <c16:uniqueId val="{00000001-6C88-4F88-9D79-6E4CFA622EBB}"/>
              </c:ext>
            </c:extLst>
          </c:dPt>
          <c:dPt>
            <c:idx val="1"/>
            <c:invertIfNegative val="0"/>
            <c:bubble3D val="0"/>
            <c:extLst>
              <c:ext xmlns:c16="http://schemas.microsoft.com/office/drawing/2014/chart" uri="{C3380CC4-5D6E-409C-BE32-E72D297353CC}">
                <c16:uniqueId val="{00000003-6C88-4F88-9D79-6E4CFA622EBB}"/>
              </c:ext>
            </c:extLst>
          </c:dPt>
          <c:dPt>
            <c:idx val="2"/>
            <c:invertIfNegative val="0"/>
            <c:bubble3D val="0"/>
            <c:extLst>
              <c:ext xmlns:c16="http://schemas.microsoft.com/office/drawing/2014/chart" uri="{C3380CC4-5D6E-409C-BE32-E72D297353CC}">
                <c16:uniqueId val="{00000005-6C88-4F88-9D79-6E4CFA622EBB}"/>
              </c:ext>
            </c:extLst>
          </c:dPt>
          <c:dPt>
            <c:idx val="3"/>
            <c:invertIfNegative val="0"/>
            <c:bubble3D val="0"/>
            <c:extLst>
              <c:ext xmlns:c16="http://schemas.microsoft.com/office/drawing/2014/chart" uri="{C3380CC4-5D6E-409C-BE32-E72D297353CC}">
                <c16:uniqueId val="{00000007-6C88-4F88-9D79-6E4CFA622EBB}"/>
              </c:ext>
            </c:extLst>
          </c:dPt>
          <c:dPt>
            <c:idx val="4"/>
            <c:invertIfNegative val="0"/>
            <c:bubble3D val="0"/>
            <c:spPr>
              <a:solidFill>
                <a:srgbClr val="F26B21"/>
              </a:solidFill>
              <a:effectLst/>
            </c:spPr>
            <c:extLst>
              <c:ext xmlns:c16="http://schemas.microsoft.com/office/drawing/2014/chart" uri="{C3380CC4-5D6E-409C-BE32-E72D297353CC}">
                <c16:uniqueId val="{00000009-6C88-4F88-9D79-6E4CFA622EBB}"/>
              </c:ext>
            </c:extLst>
          </c:dPt>
          <c:dPt>
            <c:idx val="5"/>
            <c:invertIfNegative val="0"/>
            <c:bubble3D val="0"/>
            <c:spPr>
              <a:solidFill>
                <a:srgbClr val="F26B21"/>
              </a:solidFill>
              <a:effectLst/>
            </c:spPr>
            <c:extLst>
              <c:ext xmlns:c16="http://schemas.microsoft.com/office/drawing/2014/chart" uri="{C3380CC4-5D6E-409C-BE32-E72D297353CC}">
                <c16:uniqueId val="{0000000B-6C88-4F88-9D79-6E4CFA622EBB}"/>
              </c:ext>
            </c:extLst>
          </c:dPt>
          <c:dPt>
            <c:idx val="6"/>
            <c:invertIfNegative val="0"/>
            <c:bubble3D val="0"/>
            <c:extLst>
              <c:ext xmlns:c16="http://schemas.microsoft.com/office/drawing/2014/chart" uri="{C3380CC4-5D6E-409C-BE32-E72D297353CC}">
                <c16:uniqueId val="{0000000D-6C88-4F88-9D79-6E4CFA622EBB}"/>
              </c:ext>
            </c:extLst>
          </c:dPt>
          <c:dLbls>
            <c:numFmt formatCode="0"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156</c:v>
                </c:pt>
                <c:pt idx="1">
                  <c:v>137</c:v>
                </c:pt>
                <c:pt idx="2">
                  <c:v>146</c:v>
                </c:pt>
                <c:pt idx="3">
                  <c:v>141</c:v>
                </c:pt>
                <c:pt idx="4">
                  <c:v>245</c:v>
                </c:pt>
                <c:pt idx="5">
                  <c:v>279</c:v>
                </c:pt>
                <c:pt idx="6">
                  <c:v>138</c:v>
                </c:pt>
              </c:numCache>
            </c:numRef>
          </c:val>
          <c:extLst>
            <c:ext xmlns:c16="http://schemas.microsoft.com/office/drawing/2014/chart" uri="{C3380CC4-5D6E-409C-BE32-E72D297353CC}">
              <c16:uniqueId val="{0000000E-6C88-4F88-9D79-6E4CFA622EB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Daily Gross Profit by Weekday (R K)</a:t>
            </a:r>
          </a:p>
        </c:rich>
      </c:tx>
      <c:overlay val="0"/>
    </c:title>
    <c:autoTitleDeleted val="0"/>
    <c:plotArea>
      <c:layout/>
      <c:barChart>
        <c:barDir val="col"/>
        <c:grouping val="clustered"/>
        <c:varyColors val="0"/>
        <c:ser>
          <c:idx val="0"/>
          <c:order val="0"/>
          <c:tx>
            <c:strRef>
              <c:f>Sheet1!$B$1</c:f>
              <c:strCache>
                <c:ptCount val="1"/>
                <c:pt idx="0">
                  <c:v>Avg daily gross profit (R K)</c:v>
                </c:pt>
              </c:strCache>
            </c:strRef>
          </c:tx>
          <c:spPr>
            <a:solidFill>
              <a:srgbClr val="E39A9A"/>
            </a:solidFill>
            <a:effectLst/>
          </c:spPr>
          <c:invertIfNegative val="0"/>
          <c:dPt>
            <c:idx val="0"/>
            <c:invertIfNegative val="0"/>
            <c:bubble3D val="0"/>
            <c:extLst>
              <c:ext xmlns:c16="http://schemas.microsoft.com/office/drawing/2014/chart" uri="{C3380CC4-5D6E-409C-BE32-E72D297353CC}">
                <c16:uniqueId val="{00000001-E30E-4C8B-9C4B-7287ABC15FBD}"/>
              </c:ext>
            </c:extLst>
          </c:dPt>
          <c:dPt>
            <c:idx val="1"/>
            <c:invertIfNegative val="0"/>
            <c:bubble3D val="0"/>
            <c:extLst>
              <c:ext xmlns:c16="http://schemas.microsoft.com/office/drawing/2014/chart" uri="{C3380CC4-5D6E-409C-BE32-E72D297353CC}">
                <c16:uniqueId val="{00000003-E30E-4C8B-9C4B-7287ABC15FBD}"/>
              </c:ext>
            </c:extLst>
          </c:dPt>
          <c:dPt>
            <c:idx val="2"/>
            <c:invertIfNegative val="0"/>
            <c:bubble3D val="0"/>
            <c:extLst>
              <c:ext xmlns:c16="http://schemas.microsoft.com/office/drawing/2014/chart" uri="{C3380CC4-5D6E-409C-BE32-E72D297353CC}">
                <c16:uniqueId val="{00000005-E30E-4C8B-9C4B-7287ABC15FBD}"/>
              </c:ext>
            </c:extLst>
          </c:dPt>
          <c:dPt>
            <c:idx val="3"/>
            <c:invertIfNegative val="0"/>
            <c:bubble3D val="0"/>
            <c:extLst>
              <c:ext xmlns:c16="http://schemas.microsoft.com/office/drawing/2014/chart" uri="{C3380CC4-5D6E-409C-BE32-E72D297353CC}">
                <c16:uniqueId val="{00000007-E30E-4C8B-9C4B-7287ABC15FBD}"/>
              </c:ext>
            </c:extLst>
          </c:dPt>
          <c:dPt>
            <c:idx val="4"/>
            <c:invertIfNegative val="0"/>
            <c:bubble3D val="0"/>
            <c:spPr>
              <a:solidFill>
                <a:srgbClr val="D64545"/>
              </a:solidFill>
              <a:effectLst/>
            </c:spPr>
            <c:extLst>
              <c:ext xmlns:c16="http://schemas.microsoft.com/office/drawing/2014/chart" uri="{C3380CC4-5D6E-409C-BE32-E72D297353CC}">
                <c16:uniqueId val="{00000009-E30E-4C8B-9C4B-7287ABC15FBD}"/>
              </c:ext>
            </c:extLst>
          </c:dPt>
          <c:dPt>
            <c:idx val="5"/>
            <c:invertIfNegative val="0"/>
            <c:bubble3D val="0"/>
            <c:spPr>
              <a:solidFill>
                <a:srgbClr val="D64545"/>
              </a:solidFill>
              <a:effectLst/>
            </c:spPr>
            <c:extLst>
              <c:ext xmlns:c16="http://schemas.microsoft.com/office/drawing/2014/chart" uri="{C3380CC4-5D6E-409C-BE32-E72D297353CC}">
                <c16:uniqueId val="{0000000B-E30E-4C8B-9C4B-7287ABC15FBD}"/>
              </c:ext>
            </c:extLst>
          </c:dPt>
          <c:dPt>
            <c:idx val="6"/>
            <c:invertIfNegative val="0"/>
            <c:bubble3D val="0"/>
            <c:extLst>
              <c:ext xmlns:c16="http://schemas.microsoft.com/office/drawing/2014/chart" uri="{C3380CC4-5D6E-409C-BE32-E72D297353CC}">
                <c16:uniqueId val="{0000000D-E30E-4C8B-9C4B-7287ABC15FBD}"/>
              </c:ext>
            </c:extLst>
          </c:dPt>
          <c:dLbls>
            <c:numFmt formatCode="0.0"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-5.0999999999999996</c:v>
                </c:pt>
                <c:pt idx="1">
                  <c:v>-4.5999999999999996</c:v>
                </c:pt>
                <c:pt idx="2">
                  <c:v>-5.9</c:v>
                </c:pt>
                <c:pt idx="3">
                  <c:v>-5.2</c:v>
                </c:pt>
                <c:pt idx="4">
                  <c:v>-9.5</c:v>
                </c:pt>
                <c:pt idx="5">
                  <c:v>-12</c:v>
                </c:pt>
                <c:pt idx="6">
                  <c:v>-5.0999999999999996</c:v>
                </c:pt>
              </c:numCache>
            </c:numRef>
          </c:val>
          <c:extLst>
            <c:ext xmlns:c16="http://schemas.microsoft.com/office/drawing/2014/chart" uri="{C3380CC4-5D6E-409C-BE32-E72D297353CC}">
              <c16:uniqueId val="{0000000E-E30E-4C8B-9C4B-7287ABC15FB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Total Gross Loss by Weekday (R M)</a:t>
            </a:r>
          </a:p>
        </c:rich>
      </c:tx>
      <c:overlay val="0"/>
    </c:title>
    <c:autoTitleDeleted val="0"/>
    <c:plotArea>
      <c:layout/>
      <c:barChart>
        <c:barDir val="col"/>
        <c:grouping val="clustered"/>
        <c:varyColors val="0"/>
        <c:ser>
          <c:idx val="0"/>
          <c:order val="0"/>
          <c:tx>
            <c:strRef>
              <c:f>Sheet1!$B$1</c:f>
              <c:strCache>
                <c:ptCount val="1"/>
                <c:pt idx="0">
                  <c:v>Total gross loss (R M)</c:v>
                </c:pt>
              </c:strCache>
            </c:strRef>
          </c:tx>
          <c:spPr>
            <a:solidFill>
              <a:srgbClr val="F26B21"/>
            </a:solidFill>
            <a:effectLst/>
          </c:spPr>
          <c:invertIfNegative val="0"/>
          <c:dLbls>
            <c:numFmt formatCode="0.00"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0.77</c:v>
                </c:pt>
                <c:pt idx="1">
                  <c:v>0.69</c:v>
                </c:pt>
                <c:pt idx="2">
                  <c:v>0.9</c:v>
                </c:pt>
                <c:pt idx="3">
                  <c:v>0.77</c:v>
                </c:pt>
                <c:pt idx="4">
                  <c:v>1.42</c:v>
                </c:pt>
                <c:pt idx="5">
                  <c:v>1.8</c:v>
                </c:pt>
                <c:pt idx="6">
                  <c:v>0.77</c:v>
                </c:pt>
              </c:numCache>
            </c:numRef>
          </c:val>
          <c:extLst>
            <c:ext xmlns:c16="http://schemas.microsoft.com/office/drawing/2014/chart" uri="{C3380CC4-5D6E-409C-BE32-E72D297353CC}">
              <c16:uniqueId val="{00000000-3836-42BB-98DF-D6B03EBBE70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Average Units Sold per Day</a:t>
            </a:r>
          </a:p>
        </c:rich>
      </c:tx>
      <c:overlay val="0"/>
    </c:title>
    <c:autoTitleDeleted val="0"/>
    <c:plotArea>
      <c:layout/>
      <c:barChart>
        <c:barDir val="col"/>
        <c:grouping val="clustered"/>
        <c:varyColors val="0"/>
        <c:ser>
          <c:idx val="0"/>
          <c:order val="0"/>
          <c:tx>
            <c:strRef>
              <c:f>Sheet1!$B$1</c:f>
              <c:strCache>
                <c:ptCount val="1"/>
                <c:pt idx="0">
                  <c:v>Units per day</c:v>
                </c:pt>
              </c:strCache>
            </c:strRef>
          </c:tx>
          <c:spPr>
            <a:solidFill>
              <a:srgbClr val="9AA9AF"/>
            </a:solidFill>
            <a:effectLst/>
          </c:spPr>
          <c:invertIfNegative val="0"/>
          <c:dPt>
            <c:idx val="0"/>
            <c:invertIfNegative val="0"/>
            <c:bubble3D val="0"/>
            <c:extLst>
              <c:ext xmlns:c16="http://schemas.microsoft.com/office/drawing/2014/chart" uri="{C3380CC4-5D6E-409C-BE32-E72D297353CC}">
                <c16:uniqueId val="{00000001-2450-48F5-BD9E-C15C7F8BBDD3}"/>
              </c:ext>
            </c:extLst>
          </c:dPt>
          <c:dPt>
            <c:idx val="1"/>
            <c:invertIfNegative val="0"/>
            <c:bubble3D val="0"/>
            <c:spPr>
              <a:solidFill>
                <a:srgbClr val="F26B21"/>
              </a:solidFill>
              <a:effectLst/>
            </c:spPr>
            <c:extLst>
              <c:ext xmlns:c16="http://schemas.microsoft.com/office/drawing/2014/chart" uri="{C3380CC4-5D6E-409C-BE32-E72D297353CC}">
                <c16:uniqueId val="{00000003-2450-48F5-BD9E-C15C7F8BBDD3}"/>
              </c:ext>
            </c:extLst>
          </c:dPt>
          <c:dLbls>
            <c:numFmt formatCode="#,##0" sourceLinked="0"/>
            <c:spPr>
              <a:noFill/>
              <a:ln>
                <a:noFill/>
              </a:ln>
              <a:effectLst/>
            </c:spPr>
            <c:txPr>
              <a:bodyPr/>
              <a:lstStyle/>
              <a:p>
                <a:pPr>
                  <a:defRPr sz="1100" b="0" i="0" u="none" strike="noStrike">
                    <a:solidFill>
                      <a:srgbClr val="0B3C49"/>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Non-promotion days</c:v>
                </c:pt>
                <c:pt idx="1">
                  <c:v>Promotion days</c:v>
                </c:pt>
              </c:strCache>
            </c:strRef>
          </c:cat>
          <c:val>
            <c:numRef>
              <c:f>Sheet1!$B$2:$B$3</c:f>
              <c:numCache>
                <c:formatCode>General</c:formatCode>
                <c:ptCount val="2"/>
                <c:pt idx="0">
                  <c:v>4148</c:v>
                </c:pt>
                <c:pt idx="1">
                  <c:v>9611</c:v>
                </c:pt>
              </c:numCache>
            </c:numRef>
          </c:val>
          <c:extLst>
            <c:ext xmlns:c16="http://schemas.microsoft.com/office/drawing/2014/chart" uri="{C3380CC4-5D6E-409C-BE32-E72D297353CC}">
              <c16:uniqueId val="{00000004-2450-48F5-BD9E-C15C7F8BBDD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Monthly Sales (R M)</a:t>
            </a:r>
          </a:p>
        </c:rich>
      </c:tx>
      <c:overlay val="0"/>
    </c:title>
    <c:autoTitleDeleted val="0"/>
    <c:plotArea>
      <c:layout/>
      <c:lineChart>
        <c:grouping val="standard"/>
        <c:varyColors val="0"/>
        <c:ser>
          <c:idx val="0"/>
          <c:order val="0"/>
          <c:tx>
            <c:strRef>
              <c:f>Sheet1!$B$1</c:f>
              <c:strCache>
                <c:ptCount val="1"/>
                <c:pt idx="0">
                  <c:v>Sales</c:v>
                </c:pt>
              </c:strCache>
            </c:strRef>
          </c:tx>
          <c:spPr>
            <a:ln w="25400" cap="flat">
              <a:solidFill>
                <a:srgbClr val="009BA4"/>
              </a:solidFill>
              <a:prstDash val="solid"/>
              <a:round/>
            </a:ln>
            <a:effectLst/>
          </c:spPr>
          <c:marker>
            <c:symbol val="circle"/>
            <c:size val="6"/>
            <c:spPr>
              <a:solidFill>
                <a:srgbClr val="009BA4"/>
              </a:solidFill>
              <a:ln w="9525" cap="flat">
                <a:solidFill>
                  <a:srgbClr val="009BA4"/>
                </a:solidFill>
                <a:prstDash val="solid"/>
                <a:round/>
              </a:ln>
              <a:effectLst/>
            </c:spPr>
          </c:marker>
          <c:cat>
            <c:strRef>
              <c:f>Sheet1!$A$2:$A$35</c:f>
              <c:strCache>
                <c:ptCount val="34"/>
                <c:pt idx="0">
                  <c:v>2014-01</c:v>
                </c:pt>
                <c:pt idx="1">
                  <c:v>2014-02</c:v>
                </c:pt>
                <c:pt idx="2">
                  <c:v>2014-03</c:v>
                </c:pt>
                <c:pt idx="3">
                  <c:v>2014-04</c:v>
                </c:pt>
                <c:pt idx="4">
                  <c:v>2014-05</c:v>
                </c:pt>
                <c:pt idx="5">
                  <c:v>2014-06</c:v>
                </c:pt>
                <c:pt idx="6">
                  <c:v>2014-07</c:v>
                </c:pt>
                <c:pt idx="7">
                  <c:v>2014-08</c:v>
                </c:pt>
                <c:pt idx="8">
                  <c:v>2014-09</c:v>
                </c:pt>
                <c:pt idx="9">
                  <c:v>2014-10</c:v>
                </c:pt>
                <c:pt idx="10">
                  <c:v>2014-11</c:v>
                </c:pt>
                <c:pt idx="11">
                  <c:v>2014-12</c:v>
                </c:pt>
                <c:pt idx="12">
                  <c:v>2015-01</c:v>
                </c:pt>
                <c:pt idx="13">
                  <c:v>2015-02</c:v>
                </c:pt>
                <c:pt idx="14">
                  <c:v>2015-03</c:v>
                </c:pt>
                <c:pt idx="15">
                  <c:v>2015-04</c:v>
                </c:pt>
                <c:pt idx="16">
                  <c:v>2015-05</c:v>
                </c:pt>
                <c:pt idx="17">
                  <c:v>2015-06</c:v>
                </c:pt>
                <c:pt idx="18">
                  <c:v>2015-07</c:v>
                </c:pt>
                <c:pt idx="19">
                  <c:v>2015-08</c:v>
                </c:pt>
                <c:pt idx="20">
                  <c:v>2015-09</c:v>
                </c:pt>
                <c:pt idx="21">
                  <c:v>2015-10</c:v>
                </c:pt>
                <c:pt idx="22">
                  <c:v>2015-11</c:v>
                </c:pt>
                <c:pt idx="23">
                  <c:v>2015-12</c:v>
                </c:pt>
                <c:pt idx="24">
                  <c:v>2016-01</c:v>
                </c:pt>
                <c:pt idx="25">
                  <c:v>2016-02</c:v>
                </c:pt>
                <c:pt idx="26">
                  <c:v>2016-03</c:v>
                </c:pt>
                <c:pt idx="27">
                  <c:v>2016-04</c:v>
                </c:pt>
                <c:pt idx="28">
                  <c:v>2016-05</c:v>
                </c:pt>
                <c:pt idx="29">
                  <c:v>2016-06</c:v>
                </c:pt>
                <c:pt idx="30">
                  <c:v>2016-07</c:v>
                </c:pt>
                <c:pt idx="31">
                  <c:v>2016-08</c:v>
                </c:pt>
                <c:pt idx="32">
                  <c:v>2016-09</c:v>
                </c:pt>
                <c:pt idx="33">
                  <c:v>2016-10</c:v>
                </c:pt>
              </c:strCache>
            </c:strRef>
          </c:cat>
          <c:val>
            <c:numRef>
              <c:f>Sheet1!$B$2:$B$35</c:f>
              <c:numCache>
                <c:formatCode>General</c:formatCode>
                <c:ptCount val="34"/>
                <c:pt idx="0">
                  <c:v>4.01</c:v>
                </c:pt>
                <c:pt idx="1">
                  <c:v>5.78</c:v>
                </c:pt>
                <c:pt idx="2">
                  <c:v>8.2799999999999994</c:v>
                </c:pt>
                <c:pt idx="3">
                  <c:v>6.44</c:v>
                </c:pt>
                <c:pt idx="4">
                  <c:v>7.69</c:v>
                </c:pt>
                <c:pt idx="5">
                  <c:v>6.46</c:v>
                </c:pt>
                <c:pt idx="6">
                  <c:v>4.93</c:v>
                </c:pt>
                <c:pt idx="7">
                  <c:v>10.01</c:v>
                </c:pt>
                <c:pt idx="8">
                  <c:v>7.64</c:v>
                </c:pt>
                <c:pt idx="9">
                  <c:v>5.92</c:v>
                </c:pt>
                <c:pt idx="10">
                  <c:v>2.63</c:v>
                </c:pt>
                <c:pt idx="11">
                  <c:v>5.62</c:v>
                </c:pt>
                <c:pt idx="12">
                  <c:v>3.7</c:v>
                </c:pt>
                <c:pt idx="13">
                  <c:v>4.9000000000000004</c:v>
                </c:pt>
                <c:pt idx="14">
                  <c:v>5.27</c:v>
                </c:pt>
                <c:pt idx="15">
                  <c:v>5.96</c:v>
                </c:pt>
                <c:pt idx="16">
                  <c:v>8.3800000000000008</c:v>
                </c:pt>
                <c:pt idx="17">
                  <c:v>5.33</c:v>
                </c:pt>
                <c:pt idx="18">
                  <c:v>3.68</c:v>
                </c:pt>
                <c:pt idx="19">
                  <c:v>3.93</c:v>
                </c:pt>
                <c:pt idx="20">
                  <c:v>4.67</c:v>
                </c:pt>
                <c:pt idx="21">
                  <c:v>4.83</c:v>
                </c:pt>
                <c:pt idx="22">
                  <c:v>6.54</c:v>
                </c:pt>
                <c:pt idx="23">
                  <c:v>6.82</c:v>
                </c:pt>
                <c:pt idx="24">
                  <c:v>5.4</c:v>
                </c:pt>
                <c:pt idx="25">
                  <c:v>4.8899999999999997</c:v>
                </c:pt>
                <c:pt idx="26">
                  <c:v>2.95</c:v>
                </c:pt>
                <c:pt idx="27">
                  <c:v>6.66</c:v>
                </c:pt>
                <c:pt idx="28">
                  <c:v>5.17</c:v>
                </c:pt>
                <c:pt idx="29">
                  <c:v>6.77</c:v>
                </c:pt>
                <c:pt idx="30">
                  <c:v>3.32</c:v>
                </c:pt>
                <c:pt idx="31">
                  <c:v>4.34</c:v>
                </c:pt>
                <c:pt idx="32">
                  <c:v>3.26</c:v>
                </c:pt>
                <c:pt idx="33">
                  <c:v>2.33</c:v>
                </c:pt>
              </c:numCache>
            </c:numRef>
          </c:val>
          <c:smooth val="0"/>
          <c:extLst>
            <c:ext xmlns:c16="http://schemas.microsoft.com/office/drawing/2014/chart" uri="{C3380CC4-5D6E-409C-BE32-E72D297353CC}">
              <c16:uniqueId val="{00000000-C7DE-47C0-82B9-B53F1CEF8CA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6200000"/>
          <a:lstStyle/>
          <a:p>
            <a:pPr>
              <a:defRPr sz="8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5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1" i="0" u="none" strike="noStrike">
                <a:solidFill>
                  <a:srgbClr val="0B3C49"/>
                </a:solidFill>
                <a:latin typeface="Calibri"/>
              </a:defRPr>
            </a:pPr>
            <a:r>
              <a:rPr lang="en-US" sz="1400" b="1" i="0" u="none" strike="noStrike">
                <a:solidFill>
                  <a:srgbClr val="0B3C49"/>
                </a:solidFill>
                <a:latin typeface="Calibri"/>
              </a:rPr>
              <a:t>Avg Daily Sales (R K)</a:t>
            </a:r>
          </a:p>
        </c:rich>
      </c:tx>
      <c:overlay val="0"/>
    </c:title>
    <c:autoTitleDeleted val="0"/>
    <c:plotArea>
      <c:layout/>
      <c:barChart>
        <c:barDir val="col"/>
        <c:grouping val="clustered"/>
        <c:varyColors val="0"/>
        <c:ser>
          <c:idx val="0"/>
          <c:order val="0"/>
          <c:tx>
            <c:strRef>
              <c:f>Sheet1!$B$1</c:f>
              <c:strCache>
                <c:ptCount val="1"/>
                <c:pt idx="0">
                  <c:v>Avg</c:v>
                </c:pt>
              </c:strCache>
            </c:strRef>
          </c:tx>
          <c:spPr>
            <a:solidFill>
              <a:srgbClr val="009BA4"/>
            </a:solidFill>
            <a:effectLst/>
          </c:spPr>
          <c:invertIfNegative val="0"/>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156</c:v>
                </c:pt>
                <c:pt idx="1">
                  <c:v>137</c:v>
                </c:pt>
                <c:pt idx="2">
                  <c:v>146</c:v>
                </c:pt>
                <c:pt idx="3">
                  <c:v>141</c:v>
                </c:pt>
                <c:pt idx="4">
                  <c:v>245</c:v>
                </c:pt>
                <c:pt idx="5">
                  <c:v>279</c:v>
                </c:pt>
                <c:pt idx="6">
                  <c:v>138</c:v>
                </c:pt>
              </c:numCache>
            </c:numRef>
          </c:val>
          <c:extLst>
            <c:ext xmlns:c16="http://schemas.microsoft.com/office/drawing/2014/chart" uri="{C3380CC4-5D6E-409C-BE32-E72D297353CC}">
              <c16:uniqueId val="{00000000-DED8-40B8-8AB3-B13425B6B82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73"/>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E5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3"/>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455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everyone. I'm Katlego Mphahlele, and this is my FNB Sales Case Study, a data analytics project. Over the next few minutes I'll show how I took a daily sales dataset of 1,053 records, cleaned it, analysed it with SQL, and turned it into insights and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was to understand how sales performed across almost three years and where value is being lost. The headline: the product generated R186.9M in sales but a gross loss of R7.1M. That single fact shapes every insight and recommendation that follows.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sales dataset raises the same question: are we growing profitably? I set four objectives: measure sales performance, understand trends over time, understand how promotions and pricing affect revenue, and pinpoint improvement opportunities.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headline numbers. Total sales were R186.9M on 5.28 million units, but cost of sales was R194.0M, so gross profit is negative R7.1M, a margin of minus 3.8 percent. On average the product sold R177.5K a day, at R35.40 a unit, against a cost of R36.75 a unit. Note that the dataset is daily, so I report trading days rather than individual transactions, and it has no customer 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chart shows monthly sales in rand millions for full months only. Sales peaked at R10.0M in August 2014 and have trended down since. The bar chart compares average daily sales per year, which is the fair way to compare because 2016 only runs to 16 November: R206.6K a day in 2014, R175.4K in 2015 and R146.3K in 2016, a 29 percent decline over two years.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sales with cost of sales for each full year. In every year the cost bar is taller than the sales bar, which is what a gross loss looks like. 2015 was the worst year: a R3.9M loss and a margin of minus 6.1 percent. 2016, to 16 November, is much better at minus 2.0 percent, although it is a shorter year. The two trading days in December 2013 are left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root cause of the loss. Average selling price per unit and average cost per unit by year, calculated as sales or cost of sales divided by units. In 2014 cost was R1.00 above price. In 2015 cost jumped to R39.60, up 15 percent, while price rose 12 percent, so the gap widened to R2.27 a unit. In 2016 cost came back to R37.00 and the gap narrowed to R0.72. The cost side is where the answer to the loss sits.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gross profit for each full month from January 2014 to October 2016. Only 7 of those 35 months made a profit, and five of the seven are in 2016. The worst month was November 2015 at a loss of R600.7K. The best was October 2016 with a profit of R220K. It is worth noting that the profitable months in 2016 had lower sales, so the next step is to check whether that profitability lasts.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contains a single product with no category breakdown, so I compare the four promotion periods and normal trading days instead. Promotion period 3, from 21 February to 17 March 2014, was the strongest: R335K sales a day and about 10,400 units. Promotion period 2 was the weakest of the four at R212K a day. Every promotion period beat normal days on volume, but none made a profit; period 3 lost the most per day at R10.8K.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views of timing. By month, using average daily sales so months with fewer days are not distorted: May is strongest at R228K a day and July weakest at R128K. By day of week: Saturday, at R279K, and Friday, at R245K, are far ahead; Tuesday is the quietest at R137K. Together Friday and Saturday bring in 42 percent of all sales. The dataset holds dates only, with no time of day, so an intraday analysis is not possible.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we saw that Friday and Saturday sell the most. This chart shows what those days do to profit. The average daily gross loss is R12.0K on Saturday and R9.5K on Friday, against roughly R4.6K to R5.9K on the other days. Together, Friday and Saturday account for R3.2M of the R7.1M total loss, about 45 percent. The busiest days are where margin management matters most.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no customer, region or branch information, so I looked at the other dimension available: price and promotion. On promotion days the average price per unit was 12 percent lower, R32.25 versus R36.78, and unit volume was 2.3 times higher, about 9,600 units a day versus 4,150. Sales per day doubled. But the daily gross loss on promotion days was three times larger, at R15.7K versus R5.1K. Elasticity was negative in every period and strongest in period 3, minus 8.55.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insights, each backed by the data. One: sales are large but the product loses money overall. Two: the cost of a unit is above its price. Three: promotions are 16 percent of days but 37 percent of losses. Four: daily sales are declining. Five: busy weekend days lose the most in rand terms. Six: the busier the day, the lower the profit; the correlation between units sold and daily gross profit is minus 0.80. There is also a positive sign: 2016 loses far less than 2015, and October and November 2016 were profitable.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recommendations follow directly from the findings. First, review pricing against unit cost because the average unit sells below cost. Second, redesign promotions: they lift volume but deepen losses, especially period 3. Third, manage Friday and Saturday margins because that is where the largest daily losses sit. Fourth, study what changed in late 2016, when October and November were profitable. Fifth, track daily margin so loss-making days are flagged early. The dataset does not explain why costs rose, so a cost review is the natural next step.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dashboard screenshot was provided, so this slide is a representation of the dashboard layout built from the same figures. Across the top are the KPI cards: sales, cost, gross profit and margin. Below are the monthly sales trend and the weekday pattern. On the right are the filters a manager would use: year, month, weekday, promotion status and promotion period. Replace this slide with your actual dashboard screenshot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analysis shows that strong sales do not guarantee profit. R186.9M in revenue produced a R7.1M gross loss, driven by unit costs above price and promotions that lift volume but deepen losses. The business value is clarity: we know which days, periods and pricing levels to look at first. Data analytics turns this from a hunch into evidence that supports pricing, promotion and planning decisions. 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png"/><Relationship Id="rId10" Type="http://schemas.openxmlformats.org/officeDocument/2006/relationships/image" Target="../media/image14.png"/><Relationship Id="rId4" Type="http://schemas.openxmlformats.org/officeDocument/2006/relationships/image" Target="../media/image10.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chart" Target="../charts/char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a:effectLst/>
      </p:bgPr>
    </p:bg>
    <p:spTree>
      <p:nvGrpSpPr>
        <p:cNvPr id="1" name=""/>
        <p:cNvGrpSpPr/>
        <p:nvPr/>
      </p:nvGrpSpPr>
      <p:grpSpPr>
        <a:xfrm>
          <a:off x="0" y="0"/>
          <a:ext cx="0" cy="0"/>
          <a:chOff x="0" y="0"/>
          <a:chExt cx="0" cy="0"/>
        </a:xfrm>
      </p:grpSpPr>
      <p:sp>
        <p:nvSpPr>
          <p:cNvPr id="3" name="Shape 0"/>
          <p:cNvSpPr/>
          <p:nvPr/>
        </p:nvSpPr>
        <p:spPr>
          <a:xfrm>
            <a:off x="8503920" y="822960"/>
            <a:ext cx="4754880" cy="4754880"/>
          </a:xfrm>
          <a:prstGeom prst="ellipse">
            <a:avLst/>
          </a:prstGeom>
          <a:solidFill>
            <a:srgbClr val="009BA4">
              <a:alpha val="20000"/>
            </a:srgbClr>
          </a:solidFill>
          <a:ln w="12700">
            <a:solidFill>
              <a:srgbClr val="009BA4"/>
            </a:solidFill>
            <a:prstDash val="solid"/>
          </a:ln>
        </p:spPr>
      </p:sp>
      <p:sp>
        <p:nvSpPr>
          <p:cNvPr id="4" name="Shape 1"/>
          <p:cNvSpPr/>
          <p:nvPr/>
        </p:nvSpPr>
        <p:spPr>
          <a:xfrm>
            <a:off x="9692640" y="3474720"/>
            <a:ext cx="3291840" cy="3291840"/>
          </a:xfrm>
          <a:prstGeom prst="ellipse">
            <a:avLst/>
          </a:prstGeom>
          <a:solidFill>
            <a:srgbClr val="F26B21">
              <a:alpha val="18000"/>
            </a:srgbClr>
          </a:solidFill>
          <a:ln w="12700">
            <a:solidFill>
              <a:srgbClr val="F26B21"/>
            </a:solidFill>
            <a:prstDash val="solid"/>
          </a:ln>
        </p:spPr>
      </p:sp>
      <p:pic>
        <p:nvPicPr>
          <p:cNvPr id="5" name="Image 0" descr="preencoded.png"/>
          <p:cNvPicPr>
            <a:picLocks noChangeAspect="1"/>
          </p:cNvPicPr>
          <p:nvPr/>
        </p:nvPicPr>
        <p:blipFill>
          <a:blip r:embed="rId3"/>
          <a:stretch>
            <a:fillRect/>
          </a:stretch>
        </p:blipFill>
        <p:spPr>
          <a:xfrm>
            <a:off x="9464040" y="2377440"/>
            <a:ext cx="1645920" cy="1645920"/>
          </a:xfrm>
          <a:prstGeom prst="rect">
            <a:avLst/>
          </a:prstGeom>
        </p:spPr>
      </p:pic>
      <p:sp>
        <p:nvSpPr>
          <p:cNvPr id="6" name="Text 2"/>
          <p:cNvSpPr txBox="1"/>
          <p:nvPr/>
        </p:nvSpPr>
        <p:spPr>
          <a:xfrm>
            <a:off x="822960" y="1554480"/>
            <a:ext cx="7315200" cy="365760"/>
          </a:xfrm>
          <a:prstGeom prst="rect">
            <a:avLst/>
          </a:prstGeom>
          <a:noFill/>
          <a:ln/>
        </p:spPr>
        <p:txBody>
          <a:bodyPr wrap="square" lIns="0" tIns="0" rIns="0" bIns="0" rtlCol="0" anchor="ctr"/>
          <a:lstStyle/>
          <a:p>
            <a:pPr marL="0" indent="0">
              <a:buNone/>
            </a:pPr>
            <a:r>
              <a:rPr lang="en-US" sz="1600" b="1" kern="0" spc="400" dirty="0">
                <a:solidFill>
                  <a:srgbClr val="F26B21"/>
                </a:solidFill>
                <a:latin typeface="Calibri" pitchFamily="34" charset="0"/>
                <a:ea typeface="Calibri" pitchFamily="34" charset="-122"/>
                <a:cs typeface="Calibri" pitchFamily="34" charset="-120"/>
              </a:rPr>
              <a:t>DATA ANALYTICS PROJECT</a:t>
            </a:r>
            <a:endParaRPr lang="en-US" sz="1600" dirty="0"/>
          </a:p>
        </p:txBody>
      </p:sp>
      <p:sp>
        <p:nvSpPr>
          <p:cNvPr id="7" name="Text 3"/>
          <p:cNvSpPr txBox="1"/>
          <p:nvPr/>
        </p:nvSpPr>
        <p:spPr>
          <a:xfrm>
            <a:off x="822960" y="2011680"/>
            <a:ext cx="82296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FNB Sales Analysis</a:t>
            </a:r>
            <a:endParaRPr lang="en-US" sz="5400" dirty="0"/>
          </a:p>
        </p:txBody>
      </p:sp>
      <p:sp>
        <p:nvSpPr>
          <p:cNvPr id="8" name="Text 4"/>
          <p:cNvSpPr txBox="1"/>
          <p:nvPr/>
        </p:nvSpPr>
        <p:spPr>
          <a:xfrm>
            <a:off x="822960" y="3017520"/>
            <a:ext cx="8229600" cy="640080"/>
          </a:xfrm>
          <a:prstGeom prst="rect">
            <a:avLst/>
          </a:prstGeom>
          <a:noFill/>
          <a:ln/>
        </p:spPr>
        <p:txBody>
          <a:bodyPr wrap="square" lIns="0" tIns="0" rIns="0" bIns="0" rtlCol="0" anchor="ctr"/>
          <a:lstStyle/>
          <a:p>
            <a:pPr marL="0" indent="0">
              <a:buNone/>
            </a:pPr>
            <a:r>
              <a:rPr lang="en-US" sz="3000" dirty="0">
                <a:solidFill>
                  <a:srgbClr val="BFE6E8"/>
                </a:solidFill>
                <a:latin typeface="Cambria" pitchFamily="34" charset="0"/>
                <a:ea typeface="Cambria" pitchFamily="34" charset="-122"/>
                <a:cs typeface="Cambria" pitchFamily="34" charset="-120"/>
              </a:rPr>
              <a:t>Sales Case Study</a:t>
            </a:r>
            <a:endParaRPr lang="en-US" sz="3000" dirty="0"/>
          </a:p>
        </p:txBody>
      </p:sp>
      <p:sp>
        <p:nvSpPr>
          <p:cNvPr id="9" name="Text 5"/>
          <p:cNvSpPr txBox="1"/>
          <p:nvPr/>
        </p:nvSpPr>
        <p:spPr>
          <a:xfrm>
            <a:off x="822960" y="4480560"/>
            <a:ext cx="7315200" cy="457200"/>
          </a:xfrm>
          <a:prstGeom prst="rect">
            <a:avLst/>
          </a:prstGeom>
          <a:noFill/>
          <a:ln/>
        </p:spPr>
        <p:txBody>
          <a:bodyPr wrap="square" lIns="0" tIns="0" rIns="0" bIns="0" rtlCol="0" anchor="ctr"/>
          <a:lstStyle/>
          <a:p>
            <a:pPr marL="0" indent="0">
              <a:buNone/>
            </a:pPr>
            <a:endParaRPr lang="en-US" sz="2200" dirty="0"/>
          </a:p>
        </p:txBody>
      </p:sp>
      <p:sp>
        <p:nvSpPr>
          <p:cNvPr id="10" name="Text 6"/>
          <p:cNvSpPr txBox="1"/>
          <p:nvPr/>
        </p:nvSpPr>
        <p:spPr>
          <a:xfrm>
            <a:off x="822960" y="4937760"/>
            <a:ext cx="7315200" cy="365760"/>
          </a:xfrm>
          <a:prstGeom prst="rect">
            <a:avLst/>
          </a:prstGeom>
          <a:noFill/>
          <a:ln/>
        </p:spPr>
        <p:txBody>
          <a:bodyPr wrap="square" lIns="0" tIns="0" rIns="0" bIns="0" rtlCol="0" anchor="ctr"/>
          <a:lstStyle/>
          <a:p>
            <a:pPr marL="0" indent="0">
              <a:buNone/>
            </a:pPr>
            <a:r>
              <a:rPr lang="en-US" sz="1400" dirty="0">
                <a:solidFill>
                  <a:srgbClr val="BFE6E8"/>
                </a:solidFill>
                <a:latin typeface="Calibri" pitchFamily="34" charset="0"/>
                <a:ea typeface="Calibri" pitchFamily="34" charset="-122"/>
                <a:cs typeface="Calibri" pitchFamily="34" charset="-120"/>
              </a:rPr>
              <a:t>Dec 2013 – Nov 2016  |  SQL, Excel &amp; Data Storytelling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Executive Summary</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188720"/>
            <a:ext cx="3931920" cy="4937760"/>
          </a:xfrm>
          <a:prstGeom prst="roundRect">
            <a:avLst>
              <a:gd name="adj" fmla="val 2326"/>
            </a:avLst>
          </a:prstGeom>
          <a:solidFill>
            <a:srgbClr val="0B3C49"/>
          </a:solidFill>
          <a:ln w="12700">
            <a:solidFill>
              <a:srgbClr val="0B3C49"/>
            </a:solidFill>
            <a:prstDash val="solid"/>
          </a:ln>
          <a:effectLst>
            <a:outerShdw blurRad="101600" dist="25400" dir="5400000" algn="bl" rotWithShape="0">
              <a:srgbClr val="000000">
                <a:alpha val="12000"/>
              </a:srgbClr>
            </a:outerShdw>
          </a:effectLst>
        </p:spPr>
      </p:sp>
      <p:sp>
        <p:nvSpPr>
          <p:cNvPr id="7" name="Text 4"/>
          <p:cNvSpPr txBox="1"/>
          <p:nvPr/>
        </p:nvSpPr>
        <p:spPr>
          <a:xfrm>
            <a:off x="822960" y="1417320"/>
            <a:ext cx="3383280" cy="274320"/>
          </a:xfrm>
          <a:prstGeom prst="rect">
            <a:avLst/>
          </a:prstGeom>
          <a:noFill/>
          <a:ln/>
        </p:spPr>
        <p:txBody>
          <a:bodyPr wrap="square" lIns="0" tIns="0" rIns="0" bIns="0" rtlCol="0" anchor="ctr"/>
          <a:lstStyle/>
          <a:p>
            <a:pPr marL="0" indent="0">
              <a:buNone/>
            </a:pPr>
            <a:r>
              <a:rPr lang="en-US" sz="1200" b="1" kern="0" spc="300" dirty="0">
                <a:solidFill>
                  <a:srgbClr val="F26B21"/>
                </a:solidFill>
                <a:latin typeface="Calibri" pitchFamily="34" charset="0"/>
                <a:ea typeface="Calibri" pitchFamily="34" charset="-122"/>
                <a:cs typeface="Calibri" pitchFamily="34" charset="-120"/>
              </a:rPr>
              <a:t>THE PROJECT</a:t>
            </a:r>
            <a:endParaRPr lang="en-US" sz="1200" dirty="0"/>
          </a:p>
        </p:txBody>
      </p:sp>
      <p:sp>
        <p:nvSpPr>
          <p:cNvPr id="8" name="Text 5"/>
          <p:cNvSpPr txBox="1"/>
          <p:nvPr/>
        </p:nvSpPr>
        <p:spPr>
          <a:xfrm>
            <a:off x="822960" y="1783080"/>
            <a:ext cx="3383280" cy="182880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Analysis of 1,053 days of FNB product sales (30 Dec 2013 – 16 Nov 2016) to understand revenue, profitability, promotions and time patterns.</a:t>
            </a:r>
            <a:endParaRPr lang="en-US" sz="1500" dirty="0"/>
          </a:p>
        </p:txBody>
      </p:sp>
      <p:sp>
        <p:nvSpPr>
          <p:cNvPr id="9" name="Text 6"/>
          <p:cNvSpPr txBox="1"/>
          <p:nvPr/>
        </p:nvSpPr>
        <p:spPr>
          <a:xfrm>
            <a:off x="822960" y="3840480"/>
            <a:ext cx="3383280" cy="274320"/>
          </a:xfrm>
          <a:prstGeom prst="rect">
            <a:avLst/>
          </a:prstGeom>
          <a:noFill/>
          <a:ln/>
        </p:spPr>
        <p:txBody>
          <a:bodyPr wrap="square" lIns="0" tIns="0" rIns="0" bIns="0" rtlCol="0" anchor="ctr"/>
          <a:lstStyle/>
          <a:p>
            <a:pPr marL="0" indent="0">
              <a:buNone/>
            </a:pPr>
            <a:r>
              <a:rPr lang="en-US" sz="1200" b="1" kern="0" spc="300" dirty="0">
                <a:solidFill>
                  <a:srgbClr val="F26B21"/>
                </a:solidFill>
                <a:latin typeface="Calibri" pitchFamily="34" charset="0"/>
                <a:ea typeface="Calibri" pitchFamily="34" charset="-122"/>
                <a:cs typeface="Calibri" pitchFamily="34" charset="-120"/>
              </a:rPr>
              <a:t>OBJECTIVE</a:t>
            </a:r>
            <a:endParaRPr lang="en-US" sz="1200" dirty="0"/>
          </a:p>
        </p:txBody>
      </p:sp>
      <p:sp>
        <p:nvSpPr>
          <p:cNvPr id="10" name="Text 7"/>
          <p:cNvSpPr txBox="1"/>
          <p:nvPr/>
        </p:nvSpPr>
        <p:spPr>
          <a:xfrm>
            <a:off x="822960" y="4206240"/>
            <a:ext cx="3383280" cy="14630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Identify what drives sales and profit, and where performance can be improved.</a:t>
            </a:r>
            <a:endParaRPr lang="en-US" sz="1500" dirty="0"/>
          </a:p>
        </p:txBody>
      </p:sp>
      <p:sp>
        <p:nvSpPr>
          <p:cNvPr id="11" name="Shape 8"/>
          <p:cNvSpPr/>
          <p:nvPr/>
        </p:nvSpPr>
        <p:spPr>
          <a:xfrm>
            <a:off x="4754880" y="1188720"/>
            <a:ext cx="6858000" cy="868680"/>
          </a:xfrm>
          <a:prstGeom prst="roundRect">
            <a:avLst>
              <a:gd name="adj" fmla="val 1052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2" name="Shape 9"/>
          <p:cNvSpPr/>
          <p:nvPr/>
        </p:nvSpPr>
        <p:spPr>
          <a:xfrm>
            <a:off x="4937760" y="1335024"/>
            <a:ext cx="576072" cy="576072"/>
          </a:xfrm>
          <a:prstGeom prst="ellipse">
            <a:avLst/>
          </a:prstGeom>
          <a:solidFill>
            <a:srgbClr val="F26B21"/>
          </a:solidFill>
          <a:ln w="12700">
            <a:solidFill>
              <a:srgbClr val="F26B21"/>
            </a:solidFill>
            <a:prstDash val="solid"/>
          </a:ln>
        </p:spPr>
      </p:sp>
      <p:pic>
        <p:nvPicPr>
          <p:cNvPr id="13" name="Image 0" descr="preencoded.png"/>
          <p:cNvPicPr>
            <a:picLocks noChangeAspect="1"/>
          </p:cNvPicPr>
          <p:nvPr/>
        </p:nvPicPr>
        <p:blipFill>
          <a:blip r:embed="rId3"/>
          <a:stretch>
            <a:fillRect/>
          </a:stretch>
        </p:blipFill>
        <p:spPr>
          <a:xfrm>
            <a:off x="5081778" y="1479042"/>
            <a:ext cx="288036" cy="288036"/>
          </a:xfrm>
          <a:prstGeom prst="rect">
            <a:avLst/>
          </a:prstGeom>
        </p:spPr>
      </p:pic>
      <p:sp>
        <p:nvSpPr>
          <p:cNvPr id="14" name="Text 10"/>
          <p:cNvSpPr txBox="1"/>
          <p:nvPr/>
        </p:nvSpPr>
        <p:spPr>
          <a:xfrm>
            <a:off x="5715000" y="1234440"/>
            <a:ext cx="5760720" cy="777240"/>
          </a:xfrm>
          <a:prstGeom prst="rect">
            <a:avLst/>
          </a:prstGeom>
          <a:noFill/>
          <a:ln/>
        </p:spPr>
        <p:txBody>
          <a:bodyPr wrap="square" lIns="0" tIns="0" rIns="0" bIns="0" rtlCol="0" anchor="ctr"/>
          <a:lstStyle/>
          <a:p>
            <a:pPr marL="0" indent="0">
              <a:buNone/>
            </a:pPr>
            <a:r>
              <a:rPr lang="en-US" sz="1500" dirty="0">
                <a:solidFill>
                  <a:srgbClr val="0B3C49"/>
                </a:solidFill>
                <a:latin typeface="Calibri" pitchFamily="34" charset="0"/>
                <a:ea typeface="Calibri" pitchFamily="34" charset="-122"/>
                <a:cs typeface="Calibri" pitchFamily="34" charset="-120"/>
              </a:rPr>
              <a:t>R186.9M in sales, but a gross loss of R7.1M (-3.8% margin)</a:t>
            </a:r>
            <a:endParaRPr lang="en-US" sz="1500" dirty="0"/>
          </a:p>
        </p:txBody>
      </p:sp>
      <p:sp>
        <p:nvSpPr>
          <p:cNvPr id="15" name="Shape 11"/>
          <p:cNvSpPr/>
          <p:nvPr/>
        </p:nvSpPr>
        <p:spPr>
          <a:xfrm>
            <a:off x="4754880" y="2185416"/>
            <a:ext cx="6858000" cy="868680"/>
          </a:xfrm>
          <a:prstGeom prst="roundRect">
            <a:avLst>
              <a:gd name="adj" fmla="val 1052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6" name="Shape 12"/>
          <p:cNvSpPr/>
          <p:nvPr/>
        </p:nvSpPr>
        <p:spPr>
          <a:xfrm>
            <a:off x="4937760" y="2331720"/>
            <a:ext cx="576072" cy="576072"/>
          </a:xfrm>
          <a:prstGeom prst="ellipse">
            <a:avLst/>
          </a:prstGeom>
          <a:solidFill>
            <a:srgbClr val="009BA4"/>
          </a:solidFill>
          <a:ln w="12700">
            <a:solidFill>
              <a:srgbClr val="009BA4"/>
            </a:solidFill>
            <a:prstDash val="solid"/>
          </a:ln>
        </p:spPr>
      </p:sp>
      <p:pic>
        <p:nvPicPr>
          <p:cNvPr id="17" name="Image 1" descr="preencoded.png"/>
          <p:cNvPicPr>
            <a:picLocks noChangeAspect="1"/>
          </p:cNvPicPr>
          <p:nvPr/>
        </p:nvPicPr>
        <p:blipFill>
          <a:blip r:embed="rId4"/>
          <a:stretch>
            <a:fillRect/>
          </a:stretch>
        </p:blipFill>
        <p:spPr>
          <a:xfrm>
            <a:off x="5081778" y="2475738"/>
            <a:ext cx="288036" cy="288036"/>
          </a:xfrm>
          <a:prstGeom prst="rect">
            <a:avLst/>
          </a:prstGeom>
        </p:spPr>
      </p:pic>
      <p:sp>
        <p:nvSpPr>
          <p:cNvPr id="18" name="Text 13"/>
          <p:cNvSpPr txBox="1"/>
          <p:nvPr/>
        </p:nvSpPr>
        <p:spPr>
          <a:xfrm>
            <a:off x="5715000" y="2231136"/>
            <a:ext cx="5760720" cy="777240"/>
          </a:xfrm>
          <a:prstGeom prst="rect">
            <a:avLst/>
          </a:prstGeom>
          <a:noFill/>
          <a:ln/>
        </p:spPr>
        <p:txBody>
          <a:bodyPr wrap="square" lIns="0" tIns="0" rIns="0" bIns="0" rtlCol="0" anchor="ctr"/>
          <a:lstStyle/>
          <a:p>
            <a:pPr marL="0" indent="0">
              <a:buNone/>
            </a:pPr>
            <a:r>
              <a:rPr lang="en-US" sz="1500" dirty="0">
                <a:solidFill>
                  <a:srgbClr val="0B3C49"/>
                </a:solidFill>
                <a:latin typeface="Calibri" pitchFamily="34" charset="0"/>
                <a:ea typeface="Calibri" pitchFamily="34" charset="-122"/>
                <a:cs typeface="Calibri" pitchFamily="34" charset="-120"/>
              </a:rPr>
              <a:t>Average cost per unit (R36.75) is above average selling price (R35.40)</a:t>
            </a:r>
            <a:endParaRPr lang="en-US" sz="1500" dirty="0"/>
          </a:p>
        </p:txBody>
      </p:sp>
      <p:sp>
        <p:nvSpPr>
          <p:cNvPr id="19" name="Shape 14"/>
          <p:cNvSpPr/>
          <p:nvPr/>
        </p:nvSpPr>
        <p:spPr>
          <a:xfrm>
            <a:off x="4754880" y="3182112"/>
            <a:ext cx="6858000" cy="868680"/>
          </a:xfrm>
          <a:prstGeom prst="roundRect">
            <a:avLst>
              <a:gd name="adj" fmla="val 1052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0" name="Shape 15"/>
          <p:cNvSpPr/>
          <p:nvPr/>
        </p:nvSpPr>
        <p:spPr>
          <a:xfrm>
            <a:off x="4937760" y="3328416"/>
            <a:ext cx="576072" cy="576072"/>
          </a:xfrm>
          <a:prstGeom prst="ellipse">
            <a:avLst/>
          </a:prstGeom>
          <a:solidFill>
            <a:srgbClr val="009BA4"/>
          </a:solidFill>
          <a:ln w="12700">
            <a:solidFill>
              <a:srgbClr val="009BA4"/>
            </a:solidFill>
            <a:prstDash val="solid"/>
          </a:ln>
        </p:spPr>
      </p:sp>
      <p:pic>
        <p:nvPicPr>
          <p:cNvPr id="21" name="Image 2" descr="preencoded.png"/>
          <p:cNvPicPr>
            <a:picLocks noChangeAspect="1"/>
          </p:cNvPicPr>
          <p:nvPr/>
        </p:nvPicPr>
        <p:blipFill>
          <a:blip r:embed="rId5"/>
          <a:stretch>
            <a:fillRect/>
          </a:stretch>
        </p:blipFill>
        <p:spPr>
          <a:xfrm>
            <a:off x="5081778" y="3472434"/>
            <a:ext cx="288036" cy="288036"/>
          </a:xfrm>
          <a:prstGeom prst="rect">
            <a:avLst/>
          </a:prstGeom>
        </p:spPr>
      </p:pic>
      <p:sp>
        <p:nvSpPr>
          <p:cNvPr id="22" name="Text 16"/>
          <p:cNvSpPr txBox="1"/>
          <p:nvPr/>
        </p:nvSpPr>
        <p:spPr>
          <a:xfrm>
            <a:off x="5715000" y="3227832"/>
            <a:ext cx="5760720" cy="777240"/>
          </a:xfrm>
          <a:prstGeom prst="rect">
            <a:avLst/>
          </a:prstGeom>
          <a:noFill/>
          <a:ln/>
        </p:spPr>
        <p:txBody>
          <a:bodyPr wrap="square" lIns="0" tIns="0" rIns="0" bIns="0" rtlCol="0" anchor="ctr"/>
          <a:lstStyle/>
          <a:p>
            <a:pPr marL="0" indent="0">
              <a:buNone/>
            </a:pPr>
            <a:r>
              <a:rPr lang="en-US" sz="1500" dirty="0">
                <a:solidFill>
                  <a:srgbClr val="0B3C49"/>
                </a:solidFill>
                <a:latin typeface="Calibri" pitchFamily="34" charset="0"/>
                <a:ea typeface="Calibri" pitchFamily="34" charset="-122"/>
                <a:cs typeface="Calibri" pitchFamily="34" charset="-120"/>
              </a:rPr>
              <a:t>Promotion days sold 2.3x the daily units, at a lower margin (-5.1% vs -3.3%)</a:t>
            </a:r>
            <a:endParaRPr lang="en-US" sz="1500" dirty="0"/>
          </a:p>
        </p:txBody>
      </p:sp>
      <p:sp>
        <p:nvSpPr>
          <p:cNvPr id="23" name="Shape 17"/>
          <p:cNvSpPr/>
          <p:nvPr/>
        </p:nvSpPr>
        <p:spPr>
          <a:xfrm>
            <a:off x="4754880" y="4178808"/>
            <a:ext cx="6858000" cy="868680"/>
          </a:xfrm>
          <a:prstGeom prst="roundRect">
            <a:avLst>
              <a:gd name="adj" fmla="val 1052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4" name="Shape 18"/>
          <p:cNvSpPr/>
          <p:nvPr/>
        </p:nvSpPr>
        <p:spPr>
          <a:xfrm>
            <a:off x="4937760" y="4325112"/>
            <a:ext cx="576072" cy="576072"/>
          </a:xfrm>
          <a:prstGeom prst="ellipse">
            <a:avLst/>
          </a:prstGeom>
          <a:solidFill>
            <a:srgbClr val="009BA4"/>
          </a:solidFill>
          <a:ln w="12700">
            <a:solidFill>
              <a:srgbClr val="009BA4"/>
            </a:solidFill>
            <a:prstDash val="solid"/>
          </a:ln>
        </p:spPr>
      </p:sp>
      <p:pic>
        <p:nvPicPr>
          <p:cNvPr id="25" name="Image 3" descr="preencoded.png"/>
          <p:cNvPicPr>
            <a:picLocks noChangeAspect="1"/>
          </p:cNvPicPr>
          <p:nvPr/>
        </p:nvPicPr>
        <p:blipFill>
          <a:blip r:embed="rId6"/>
          <a:stretch>
            <a:fillRect/>
          </a:stretch>
        </p:blipFill>
        <p:spPr>
          <a:xfrm>
            <a:off x="5081778" y="4469130"/>
            <a:ext cx="288036" cy="288036"/>
          </a:xfrm>
          <a:prstGeom prst="rect">
            <a:avLst/>
          </a:prstGeom>
        </p:spPr>
      </p:pic>
      <p:sp>
        <p:nvSpPr>
          <p:cNvPr id="26" name="Text 19"/>
          <p:cNvSpPr txBox="1"/>
          <p:nvPr/>
        </p:nvSpPr>
        <p:spPr>
          <a:xfrm>
            <a:off x="5715000" y="4224528"/>
            <a:ext cx="5760720" cy="777240"/>
          </a:xfrm>
          <a:prstGeom prst="rect">
            <a:avLst/>
          </a:prstGeom>
          <a:noFill/>
          <a:ln/>
        </p:spPr>
        <p:txBody>
          <a:bodyPr wrap="square" lIns="0" tIns="0" rIns="0" bIns="0" rtlCol="0" anchor="ctr"/>
          <a:lstStyle/>
          <a:p>
            <a:pPr marL="0" indent="0">
              <a:buNone/>
            </a:pPr>
            <a:r>
              <a:rPr lang="en-US" sz="1500" dirty="0">
                <a:solidFill>
                  <a:srgbClr val="0B3C49"/>
                </a:solidFill>
                <a:latin typeface="Calibri" pitchFamily="34" charset="0"/>
                <a:ea typeface="Calibri" pitchFamily="34" charset="-122"/>
                <a:cs typeface="Calibri" pitchFamily="34" charset="-120"/>
              </a:rPr>
              <a:t>Friday and Saturday deliver 42% of all sales</a:t>
            </a:r>
            <a:endParaRPr lang="en-US" sz="1500" dirty="0"/>
          </a:p>
        </p:txBody>
      </p:sp>
      <p:sp>
        <p:nvSpPr>
          <p:cNvPr id="27" name="Shape 20"/>
          <p:cNvSpPr/>
          <p:nvPr/>
        </p:nvSpPr>
        <p:spPr>
          <a:xfrm>
            <a:off x="4754880" y="5175504"/>
            <a:ext cx="6858000" cy="868680"/>
          </a:xfrm>
          <a:prstGeom prst="roundRect">
            <a:avLst>
              <a:gd name="adj" fmla="val 10526"/>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8" name="Shape 21"/>
          <p:cNvSpPr/>
          <p:nvPr/>
        </p:nvSpPr>
        <p:spPr>
          <a:xfrm>
            <a:off x="4937760" y="5321808"/>
            <a:ext cx="576072" cy="576072"/>
          </a:xfrm>
          <a:prstGeom prst="ellipse">
            <a:avLst/>
          </a:prstGeom>
          <a:solidFill>
            <a:srgbClr val="009BA4"/>
          </a:solidFill>
          <a:ln w="12700">
            <a:solidFill>
              <a:srgbClr val="009BA4"/>
            </a:solidFill>
            <a:prstDash val="solid"/>
          </a:ln>
        </p:spPr>
      </p:sp>
      <p:pic>
        <p:nvPicPr>
          <p:cNvPr id="29" name="Image 4" descr="preencoded.png"/>
          <p:cNvPicPr>
            <a:picLocks noChangeAspect="1"/>
          </p:cNvPicPr>
          <p:nvPr/>
        </p:nvPicPr>
        <p:blipFill>
          <a:blip r:embed="rId7"/>
          <a:stretch>
            <a:fillRect/>
          </a:stretch>
        </p:blipFill>
        <p:spPr>
          <a:xfrm>
            <a:off x="5081778" y="5465826"/>
            <a:ext cx="288036" cy="288036"/>
          </a:xfrm>
          <a:prstGeom prst="rect">
            <a:avLst/>
          </a:prstGeom>
        </p:spPr>
      </p:pic>
      <p:sp>
        <p:nvSpPr>
          <p:cNvPr id="30" name="Text 22"/>
          <p:cNvSpPr txBox="1"/>
          <p:nvPr/>
        </p:nvSpPr>
        <p:spPr>
          <a:xfrm>
            <a:off x="5715000" y="5221224"/>
            <a:ext cx="5760720" cy="777240"/>
          </a:xfrm>
          <a:prstGeom prst="rect">
            <a:avLst/>
          </a:prstGeom>
          <a:noFill/>
          <a:ln/>
        </p:spPr>
        <p:txBody>
          <a:bodyPr wrap="square" lIns="0" tIns="0" rIns="0" bIns="0" rtlCol="0" anchor="ctr"/>
          <a:lstStyle/>
          <a:p>
            <a:pPr marL="0" indent="0">
              <a:buNone/>
            </a:pPr>
            <a:r>
              <a:rPr lang="en-US" sz="1500" dirty="0">
                <a:solidFill>
                  <a:srgbClr val="0B3C49"/>
                </a:solidFill>
                <a:latin typeface="Calibri" pitchFamily="34" charset="0"/>
                <a:ea typeface="Calibri" pitchFamily="34" charset="-122"/>
                <a:cs typeface="Calibri" pitchFamily="34" charset="-120"/>
              </a:rPr>
              <a:t>Average daily sales fell 29% from 2014 to 2016</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Business Problem &amp; Objectives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
        <p:nvSpPr>
          <p:cNvPr id="6" name="Text 3"/>
          <p:cNvSpPr txBox="1"/>
          <p:nvPr/>
        </p:nvSpPr>
        <p:spPr>
          <a:xfrm>
            <a:off x="548640" y="1051560"/>
            <a:ext cx="11064240" cy="457200"/>
          </a:xfrm>
          <a:prstGeom prst="rect">
            <a:avLst/>
          </a:prstGeom>
          <a:noFill/>
          <a:ln/>
        </p:spPr>
        <p:txBody>
          <a:bodyPr wrap="square" lIns="0" tIns="0" rIns="0" bIns="0" rtlCol="0" anchor="ctr"/>
          <a:lstStyle/>
          <a:p>
            <a:pPr marL="0" indent="0">
              <a:buNone/>
            </a:pPr>
            <a:r>
              <a:rPr lang="en-US" sz="1800" i="1" dirty="0">
                <a:solidFill>
                  <a:srgbClr val="009BA4"/>
                </a:solidFill>
                <a:latin typeface="Calibri" pitchFamily="34" charset="0"/>
                <a:ea typeface="Calibri" pitchFamily="34" charset="-122"/>
                <a:cs typeface="Calibri" pitchFamily="34" charset="-120"/>
              </a:rPr>
              <a:t>Are sales translating into profit, and what can be done to improve performance?</a:t>
            </a:r>
            <a:endParaRPr lang="en-US" sz="1800" dirty="0"/>
          </a:p>
        </p:txBody>
      </p:sp>
      <p:sp>
        <p:nvSpPr>
          <p:cNvPr id="7" name="Shape 4"/>
          <p:cNvSpPr/>
          <p:nvPr/>
        </p:nvSpPr>
        <p:spPr>
          <a:xfrm>
            <a:off x="548640" y="1828800"/>
            <a:ext cx="5440680" cy="2057400"/>
          </a:xfrm>
          <a:prstGeom prst="roundRect">
            <a:avLst>
              <a:gd name="adj" fmla="val 444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Shape 5"/>
          <p:cNvSpPr/>
          <p:nvPr/>
        </p:nvSpPr>
        <p:spPr>
          <a:xfrm>
            <a:off x="868680" y="2194560"/>
            <a:ext cx="777240" cy="777240"/>
          </a:xfrm>
          <a:prstGeom prst="ellipse">
            <a:avLst/>
          </a:prstGeom>
          <a:solidFill>
            <a:srgbClr val="009BA4"/>
          </a:solidFill>
          <a:ln w="12700">
            <a:solidFill>
              <a:srgbClr val="009BA4"/>
            </a:solidFill>
            <a:prstDash val="solid"/>
          </a:ln>
        </p:spPr>
      </p:sp>
      <p:pic>
        <p:nvPicPr>
          <p:cNvPr id="9" name="Image 0" descr="preencoded.png"/>
          <p:cNvPicPr>
            <a:picLocks noChangeAspect="1"/>
          </p:cNvPicPr>
          <p:nvPr/>
        </p:nvPicPr>
        <p:blipFill>
          <a:blip r:embed="rId3"/>
          <a:stretch>
            <a:fillRect/>
          </a:stretch>
        </p:blipFill>
        <p:spPr>
          <a:xfrm>
            <a:off x="1062990" y="2388870"/>
            <a:ext cx="388620" cy="388620"/>
          </a:xfrm>
          <a:prstGeom prst="rect">
            <a:avLst/>
          </a:prstGeom>
        </p:spPr>
      </p:pic>
      <p:sp>
        <p:nvSpPr>
          <p:cNvPr id="10" name="Text 6"/>
          <p:cNvSpPr txBox="1"/>
          <p:nvPr/>
        </p:nvSpPr>
        <p:spPr>
          <a:xfrm>
            <a:off x="1874520" y="2148840"/>
            <a:ext cx="3931920" cy="457200"/>
          </a:xfrm>
          <a:prstGeom prst="rect">
            <a:avLst/>
          </a:prstGeom>
          <a:noFill/>
          <a:ln/>
        </p:spPr>
        <p:txBody>
          <a:bodyPr wrap="square" lIns="0" tIns="0" rIns="0" bIns="0" rtlCol="0" anchor="ctr"/>
          <a:lstStyle/>
          <a:p>
            <a:pPr marL="0" indent="0">
              <a:buNone/>
            </a:pPr>
            <a:r>
              <a:rPr lang="en-US" sz="2200" b="1" dirty="0">
                <a:solidFill>
                  <a:srgbClr val="0B3C49"/>
                </a:solidFill>
                <a:latin typeface="Cambria" pitchFamily="34" charset="0"/>
                <a:ea typeface="Cambria" pitchFamily="34" charset="-122"/>
                <a:cs typeface="Cambria" pitchFamily="34" charset="-120"/>
              </a:rPr>
              <a:t>Sales Performance</a:t>
            </a:r>
            <a:endParaRPr lang="en-US" sz="2200" dirty="0"/>
          </a:p>
        </p:txBody>
      </p:sp>
      <p:sp>
        <p:nvSpPr>
          <p:cNvPr id="11" name="Text 7"/>
          <p:cNvSpPr txBox="1"/>
          <p:nvPr/>
        </p:nvSpPr>
        <p:spPr>
          <a:xfrm>
            <a:off x="1874520" y="2697480"/>
            <a:ext cx="3931920" cy="1005840"/>
          </a:xfrm>
          <a:prstGeom prst="rect">
            <a:avLst/>
          </a:prstGeom>
          <a:noFill/>
          <a:ln/>
        </p:spPr>
        <p:txBody>
          <a:bodyPr wrap="square" lIns="0" tIns="0" rIns="0" bIns="0" rtlCol="0" anchor="t"/>
          <a:lstStyle/>
          <a:p>
            <a:pPr marL="0" indent="0">
              <a:buNone/>
            </a:pPr>
            <a:r>
              <a:rPr lang="en-US" sz="1500" dirty="0">
                <a:solidFill>
                  <a:srgbClr val="5B6B73"/>
                </a:solidFill>
                <a:latin typeface="Calibri" pitchFamily="34" charset="0"/>
                <a:ea typeface="Calibri" pitchFamily="34" charset="-122"/>
                <a:cs typeface="Calibri" pitchFamily="34" charset="-120"/>
              </a:rPr>
              <a:t>How much was sold, at what cost, and with what gross profit?</a:t>
            </a:r>
            <a:endParaRPr lang="en-US" sz="1500" dirty="0"/>
          </a:p>
        </p:txBody>
      </p:sp>
      <p:sp>
        <p:nvSpPr>
          <p:cNvPr id="12" name="Shape 8"/>
          <p:cNvSpPr/>
          <p:nvPr/>
        </p:nvSpPr>
        <p:spPr>
          <a:xfrm>
            <a:off x="6172200" y="1828800"/>
            <a:ext cx="5440680" cy="2057400"/>
          </a:xfrm>
          <a:prstGeom prst="roundRect">
            <a:avLst>
              <a:gd name="adj" fmla="val 444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3" name="Shape 9"/>
          <p:cNvSpPr/>
          <p:nvPr/>
        </p:nvSpPr>
        <p:spPr>
          <a:xfrm>
            <a:off x="6492240" y="2194560"/>
            <a:ext cx="777240" cy="777240"/>
          </a:xfrm>
          <a:prstGeom prst="ellipse">
            <a:avLst/>
          </a:prstGeom>
          <a:solidFill>
            <a:srgbClr val="009BA4"/>
          </a:solidFill>
          <a:ln w="12700">
            <a:solidFill>
              <a:srgbClr val="009BA4"/>
            </a:solidFill>
            <a:prstDash val="solid"/>
          </a:ln>
        </p:spPr>
      </p:sp>
      <p:pic>
        <p:nvPicPr>
          <p:cNvPr id="14" name="Image 1" descr="preencoded.png"/>
          <p:cNvPicPr>
            <a:picLocks noChangeAspect="1"/>
          </p:cNvPicPr>
          <p:nvPr/>
        </p:nvPicPr>
        <p:blipFill>
          <a:blip r:embed="rId4"/>
          <a:stretch>
            <a:fillRect/>
          </a:stretch>
        </p:blipFill>
        <p:spPr>
          <a:xfrm>
            <a:off x="6686550" y="2388870"/>
            <a:ext cx="388620" cy="388620"/>
          </a:xfrm>
          <a:prstGeom prst="rect">
            <a:avLst/>
          </a:prstGeom>
        </p:spPr>
      </p:pic>
      <p:sp>
        <p:nvSpPr>
          <p:cNvPr id="15" name="Text 10"/>
          <p:cNvSpPr txBox="1"/>
          <p:nvPr/>
        </p:nvSpPr>
        <p:spPr>
          <a:xfrm>
            <a:off x="7498080" y="2148840"/>
            <a:ext cx="3931920" cy="457200"/>
          </a:xfrm>
          <a:prstGeom prst="rect">
            <a:avLst/>
          </a:prstGeom>
          <a:noFill/>
          <a:ln/>
        </p:spPr>
        <p:txBody>
          <a:bodyPr wrap="square" lIns="0" tIns="0" rIns="0" bIns="0" rtlCol="0" anchor="ctr"/>
          <a:lstStyle/>
          <a:p>
            <a:pPr marL="0" indent="0">
              <a:buNone/>
            </a:pPr>
            <a:r>
              <a:rPr lang="en-US" sz="2200" b="1" dirty="0">
                <a:solidFill>
                  <a:srgbClr val="0B3C49"/>
                </a:solidFill>
                <a:latin typeface="Cambria" pitchFamily="34" charset="0"/>
                <a:ea typeface="Cambria" pitchFamily="34" charset="-122"/>
                <a:cs typeface="Cambria" pitchFamily="34" charset="-120"/>
              </a:rPr>
              <a:t>Trends &amp; Patterns</a:t>
            </a:r>
            <a:endParaRPr lang="en-US" sz="2200" dirty="0"/>
          </a:p>
        </p:txBody>
      </p:sp>
      <p:sp>
        <p:nvSpPr>
          <p:cNvPr id="16" name="Text 11"/>
          <p:cNvSpPr txBox="1"/>
          <p:nvPr/>
        </p:nvSpPr>
        <p:spPr>
          <a:xfrm>
            <a:off x="7498080" y="2697480"/>
            <a:ext cx="3931920" cy="1005840"/>
          </a:xfrm>
          <a:prstGeom prst="rect">
            <a:avLst/>
          </a:prstGeom>
          <a:noFill/>
          <a:ln/>
        </p:spPr>
        <p:txBody>
          <a:bodyPr wrap="square" lIns="0" tIns="0" rIns="0" bIns="0" rtlCol="0" anchor="t"/>
          <a:lstStyle/>
          <a:p>
            <a:pPr marL="0" indent="0">
              <a:buNone/>
            </a:pPr>
            <a:r>
              <a:rPr lang="en-US" sz="1500" dirty="0">
                <a:solidFill>
                  <a:srgbClr val="5B6B73"/>
                </a:solidFill>
                <a:latin typeface="Calibri" pitchFamily="34" charset="0"/>
                <a:ea typeface="Calibri" pitchFamily="34" charset="-122"/>
                <a:cs typeface="Calibri" pitchFamily="34" charset="-120"/>
              </a:rPr>
              <a:t>How do sales move by year, month and day of the week?</a:t>
            </a:r>
            <a:endParaRPr lang="en-US" sz="1500" dirty="0"/>
          </a:p>
        </p:txBody>
      </p:sp>
      <p:sp>
        <p:nvSpPr>
          <p:cNvPr id="17" name="Shape 12"/>
          <p:cNvSpPr/>
          <p:nvPr/>
        </p:nvSpPr>
        <p:spPr>
          <a:xfrm>
            <a:off x="548640" y="4114800"/>
            <a:ext cx="5440680" cy="2057400"/>
          </a:xfrm>
          <a:prstGeom prst="roundRect">
            <a:avLst>
              <a:gd name="adj" fmla="val 444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8" name="Shape 13"/>
          <p:cNvSpPr/>
          <p:nvPr/>
        </p:nvSpPr>
        <p:spPr>
          <a:xfrm>
            <a:off x="868680" y="4480560"/>
            <a:ext cx="777240" cy="777240"/>
          </a:xfrm>
          <a:prstGeom prst="ellipse">
            <a:avLst/>
          </a:prstGeom>
          <a:solidFill>
            <a:srgbClr val="009BA4"/>
          </a:solidFill>
          <a:ln w="12700">
            <a:solidFill>
              <a:srgbClr val="009BA4"/>
            </a:solidFill>
            <a:prstDash val="solid"/>
          </a:ln>
        </p:spPr>
      </p:sp>
      <p:pic>
        <p:nvPicPr>
          <p:cNvPr id="19" name="Image 2" descr="preencoded.png"/>
          <p:cNvPicPr>
            <a:picLocks noChangeAspect="1"/>
          </p:cNvPicPr>
          <p:nvPr/>
        </p:nvPicPr>
        <p:blipFill>
          <a:blip r:embed="rId5"/>
          <a:stretch>
            <a:fillRect/>
          </a:stretch>
        </p:blipFill>
        <p:spPr>
          <a:xfrm>
            <a:off x="1062990" y="4674870"/>
            <a:ext cx="388620" cy="388620"/>
          </a:xfrm>
          <a:prstGeom prst="rect">
            <a:avLst/>
          </a:prstGeom>
        </p:spPr>
      </p:pic>
      <p:sp>
        <p:nvSpPr>
          <p:cNvPr id="20" name="Text 14"/>
          <p:cNvSpPr txBox="1"/>
          <p:nvPr/>
        </p:nvSpPr>
        <p:spPr>
          <a:xfrm>
            <a:off x="1874520" y="4434840"/>
            <a:ext cx="3931920" cy="457200"/>
          </a:xfrm>
          <a:prstGeom prst="rect">
            <a:avLst/>
          </a:prstGeom>
          <a:noFill/>
          <a:ln/>
        </p:spPr>
        <p:txBody>
          <a:bodyPr wrap="square" lIns="0" tIns="0" rIns="0" bIns="0" rtlCol="0" anchor="ctr"/>
          <a:lstStyle/>
          <a:p>
            <a:pPr marL="0" indent="0">
              <a:buNone/>
            </a:pPr>
            <a:r>
              <a:rPr lang="en-US" sz="2200" b="1" dirty="0">
                <a:solidFill>
                  <a:srgbClr val="0B3C49"/>
                </a:solidFill>
                <a:latin typeface="Cambria" pitchFamily="34" charset="0"/>
                <a:ea typeface="Cambria" pitchFamily="34" charset="-122"/>
                <a:cs typeface="Cambria" pitchFamily="34" charset="-120"/>
              </a:rPr>
              <a:t>Promotion &amp; Pricing</a:t>
            </a:r>
            <a:endParaRPr lang="en-US" sz="2200" dirty="0"/>
          </a:p>
        </p:txBody>
      </p:sp>
      <p:sp>
        <p:nvSpPr>
          <p:cNvPr id="21" name="Text 15"/>
          <p:cNvSpPr txBox="1"/>
          <p:nvPr/>
        </p:nvSpPr>
        <p:spPr>
          <a:xfrm>
            <a:off x="1874520" y="4983480"/>
            <a:ext cx="3931920" cy="1005840"/>
          </a:xfrm>
          <a:prstGeom prst="rect">
            <a:avLst/>
          </a:prstGeom>
          <a:noFill/>
          <a:ln/>
        </p:spPr>
        <p:txBody>
          <a:bodyPr wrap="square" lIns="0" tIns="0" rIns="0" bIns="0" rtlCol="0" anchor="t"/>
          <a:lstStyle/>
          <a:p>
            <a:pPr marL="0" indent="0">
              <a:buNone/>
            </a:pPr>
            <a:r>
              <a:rPr lang="en-US" sz="1500" dirty="0">
                <a:solidFill>
                  <a:srgbClr val="5B6B73"/>
                </a:solidFill>
                <a:latin typeface="Calibri" pitchFamily="34" charset="0"/>
                <a:ea typeface="Calibri" pitchFamily="34" charset="-122"/>
                <a:cs typeface="Calibri" pitchFamily="34" charset="-120"/>
              </a:rPr>
              <a:t>What do promotions and price changes do to volume and margin?</a:t>
            </a:r>
            <a:endParaRPr lang="en-US" sz="1500" dirty="0"/>
          </a:p>
        </p:txBody>
      </p:sp>
      <p:sp>
        <p:nvSpPr>
          <p:cNvPr id="22" name="Shape 16"/>
          <p:cNvSpPr/>
          <p:nvPr/>
        </p:nvSpPr>
        <p:spPr>
          <a:xfrm>
            <a:off x="6172200" y="4114800"/>
            <a:ext cx="5440680" cy="2057400"/>
          </a:xfrm>
          <a:prstGeom prst="roundRect">
            <a:avLst>
              <a:gd name="adj" fmla="val 444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3" name="Shape 17"/>
          <p:cNvSpPr/>
          <p:nvPr/>
        </p:nvSpPr>
        <p:spPr>
          <a:xfrm>
            <a:off x="6492240" y="4480560"/>
            <a:ext cx="777240" cy="777240"/>
          </a:xfrm>
          <a:prstGeom prst="ellipse">
            <a:avLst/>
          </a:prstGeom>
          <a:solidFill>
            <a:srgbClr val="F26B21"/>
          </a:solidFill>
          <a:ln w="12700">
            <a:solidFill>
              <a:srgbClr val="F26B21"/>
            </a:solidFill>
            <a:prstDash val="solid"/>
          </a:ln>
        </p:spPr>
      </p:sp>
      <p:pic>
        <p:nvPicPr>
          <p:cNvPr id="24" name="Image 3" descr="preencoded.png"/>
          <p:cNvPicPr>
            <a:picLocks noChangeAspect="1"/>
          </p:cNvPicPr>
          <p:nvPr/>
        </p:nvPicPr>
        <p:blipFill>
          <a:blip r:embed="rId6"/>
          <a:stretch>
            <a:fillRect/>
          </a:stretch>
        </p:blipFill>
        <p:spPr>
          <a:xfrm>
            <a:off x="6686550" y="4674870"/>
            <a:ext cx="388620" cy="388620"/>
          </a:xfrm>
          <a:prstGeom prst="rect">
            <a:avLst/>
          </a:prstGeom>
        </p:spPr>
      </p:pic>
      <p:sp>
        <p:nvSpPr>
          <p:cNvPr id="25" name="Text 18"/>
          <p:cNvSpPr txBox="1"/>
          <p:nvPr/>
        </p:nvSpPr>
        <p:spPr>
          <a:xfrm>
            <a:off x="7498080" y="4434840"/>
            <a:ext cx="3931920" cy="457200"/>
          </a:xfrm>
          <a:prstGeom prst="rect">
            <a:avLst/>
          </a:prstGeom>
          <a:noFill/>
          <a:ln/>
        </p:spPr>
        <p:txBody>
          <a:bodyPr wrap="square" lIns="0" tIns="0" rIns="0" bIns="0" rtlCol="0" anchor="ctr"/>
          <a:lstStyle/>
          <a:p>
            <a:pPr marL="0" indent="0">
              <a:buNone/>
            </a:pPr>
            <a:r>
              <a:rPr lang="en-US" sz="2200" b="1" dirty="0">
                <a:solidFill>
                  <a:srgbClr val="0B3C49"/>
                </a:solidFill>
                <a:latin typeface="Cambria" pitchFamily="34" charset="0"/>
                <a:ea typeface="Cambria" pitchFamily="34" charset="-122"/>
                <a:cs typeface="Cambria" pitchFamily="34" charset="-120"/>
              </a:rPr>
              <a:t>Opportunities</a:t>
            </a:r>
            <a:endParaRPr lang="en-US" sz="2200" dirty="0"/>
          </a:p>
        </p:txBody>
      </p:sp>
      <p:sp>
        <p:nvSpPr>
          <p:cNvPr id="26" name="Text 19"/>
          <p:cNvSpPr txBox="1"/>
          <p:nvPr/>
        </p:nvSpPr>
        <p:spPr>
          <a:xfrm>
            <a:off x="7498080" y="4983480"/>
            <a:ext cx="3931920" cy="1005840"/>
          </a:xfrm>
          <a:prstGeom prst="rect">
            <a:avLst/>
          </a:prstGeom>
          <a:noFill/>
          <a:ln/>
        </p:spPr>
        <p:txBody>
          <a:bodyPr wrap="square" lIns="0" tIns="0" rIns="0" bIns="0" rtlCol="0" anchor="t"/>
          <a:lstStyle/>
          <a:p>
            <a:pPr marL="0" indent="0">
              <a:buNone/>
            </a:pPr>
            <a:r>
              <a:rPr lang="en-US" sz="1500" dirty="0">
                <a:solidFill>
                  <a:srgbClr val="5B6B73"/>
                </a:solidFill>
                <a:latin typeface="Calibri" pitchFamily="34" charset="0"/>
                <a:ea typeface="Calibri" pitchFamily="34" charset="-122"/>
                <a:cs typeface="Calibri" pitchFamily="34" charset="-120"/>
              </a:rPr>
              <a:t>Where can performance be improved based on the evidence?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Key Performance Indicators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48640" y="128016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7" name="Shape 4"/>
          <p:cNvSpPr/>
          <p:nvPr/>
        </p:nvSpPr>
        <p:spPr>
          <a:xfrm>
            <a:off x="777240" y="1508760"/>
            <a:ext cx="548640" cy="548640"/>
          </a:xfrm>
          <a:prstGeom prst="ellipse">
            <a:avLst/>
          </a:prstGeom>
          <a:solidFill>
            <a:srgbClr val="009BA4"/>
          </a:solidFill>
          <a:ln w="12700">
            <a:solidFill>
              <a:srgbClr val="009BA4"/>
            </a:solidFill>
            <a:prstDash val="solid"/>
          </a:ln>
        </p:spPr>
      </p:sp>
      <p:pic>
        <p:nvPicPr>
          <p:cNvPr id="8" name="Image 0" descr="preencoded.png"/>
          <p:cNvPicPr>
            <a:picLocks noChangeAspect="1"/>
          </p:cNvPicPr>
          <p:nvPr/>
        </p:nvPicPr>
        <p:blipFill>
          <a:blip r:embed="rId3"/>
          <a:stretch>
            <a:fillRect/>
          </a:stretch>
        </p:blipFill>
        <p:spPr>
          <a:xfrm>
            <a:off x="914400" y="1645920"/>
            <a:ext cx="274320" cy="274320"/>
          </a:xfrm>
          <a:prstGeom prst="rect">
            <a:avLst/>
          </a:prstGeom>
        </p:spPr>
      </p:pic>
      <p:sp>
        <p:nvSpPr>
          <p:cNvPr id="9" name="Text 5"/>
          <p:cNvSpPr txBox="1"/>
          <p:nvPr/>
        </p:nvSpPr>
        <p:spPr>
          <a:xfrm>
            <a:off x="777240" y="2194560"/>
            <a:ext cx="2194560" cy="685800"/>
          </a:xfrm>
          <a:prstGeom prst="rect">
            <a:avLst/>
          </a:prstGeom>
          <a:noFill/>
          <a:ln/>
        </p:spPr>
        <p:txBody>
          <a:bodyPr wrap="square" lIns="0" tIns="0" rIns="0" bIns="0" rtlCol="0" anchor="ctr"/>
          <a:lstStyle/>
          <a:p>
            <a:pPr marL="0" indent="0">
              <a:buNone/>
            </a:pPr>
            <a:r>
              <a:rPr lang="en-US" sz="3200" b="1" dirty="0">
                <a:solidFill>
                  <a:srgbClr val="0B3C49"/>
                </a:solidFill>
                <a:latin typeface="Cambria" pitchFamily="34" charset="0"/>
                <a:ea typeface="Cambria" pitchFamily="34" charset="-122"/>
                <a:cs typeface="Cambria" pitchFamily="34" charset="-120"/>
              </a:rPr>
              <a:t>R186.9M</a:t>
            </a:r>
            <a:endParaRPr lang="en-US" sz="3200" dirty="0"/>
          </a:p>
        </p:txBody>
      </p:sp>
      <p:sp>
        <p:nvSpPr>
          <p:cNvPr id="10" name="Text 6"/>
          <p:cNvSpPr txBox="1"/>
          <p:nvPr/>
        </p:nvSpPr>
        <p:spPr>
          <a:xfrm>
            <a:off x="777240" y="292608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Total Sales (Revenue)</a:t>
            </a:r>
            <a:endParaRPr lang="en-US" sz="1300" dirty="0"/>
          </a:p>
        </p:txBody>
      </p:sp>
      <p:sp>
        <p:nvSpPr>
          <p:cNvPr id="11" name="Shape 7"/>
          <p:cNvSpPr/>
          <p:nvPr/>
        </p:nvSpPr>
        <p:spPr>
          <a:xfrm>
            <a:off x="3364992" y="128016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2" name="Shape 8"/>
          <p:cNvSpPr/>
          <p:nvPr/>
        </p:nvSpPr>
        <p:spPr>
          <a:xfrm>
            <a:off x="3593592" y="1508760"/>
            <a:ext cx="548640" cy="548640"/>
          </a:xfrm>
          <a:prstGeom prst="ellipse">
            <a:avLst/>
          </a:prstGeom>
          <a:solidFill>
            <a:srgbClr val="009BA4"/>
          </a:solidFill>
          <a:ln w="12700">
            <a:solidFill>
              <a:srgbClr val="009BA4"/>
            </a:solidFill>
            <a:prstDash val="solid"/>
          </a:ln>
        </p:spPr>
      </p:sp>
      <p:pic>
        <p:nvPicPr>
          <p:cNvPr id="13" name="Image 1" descr="preencoded.png"/>
          <p:cNvPicPr>
            <a:picLocks noChangeAspect="1"/>
          </p:cNvPicPr>
          <p:nvPr/>
        </p:nvPicPr>
        <p:blipFill>
          <a:blip r:embed="rId4"/>
          <a:stretch>
            <a:fillRect/>
          </a:stretch>
        </p:blipFill>
        <p:spPr>
          <a:xfrm>
            <a:off x="3730752" y="1645920"/>
            <a:ext cx="274320" cy="274320"/>
          </a:xfrm>
          <a:prstGeom prst="rect">
            <a:avLst/>
          </a:prstGeom>
        </p:spPr>
      </p:pic>
      <p:sp>
        <p:nvSpPr>
          <p:cNvPr id="14" name="Text 9"/>
          <p:cNvSpPr txBox="1"/>
          <p:nvPr/>
        </p:nvSpPr>
        <p:spPr>
          <a:xfrm>
            <a:off x="3593592" y="2194560"/>
            <a:ext cx="2194560" cy="685800"/>
          </a:xfrm>
          <a:prstGeom prst="rect">
            <a:avLst/>
          </a:prstGeom>
          <a:noFill/>
          <a:ln/>
        </p:spPr>
        <p:txBody>
          <a:bodyPr wrap="square" lIns="0" tIns="0" rIns="0" bIns="0" rtlCol="0" anchor="ctr"/>
          <a:lstStyle/>
          <a:p>
            <a:pPr marL="0" indent="0">
              <a:buNone/>
            </a:pPr>
            <a:r>
              <a:rPr lang="en-US" sz="3200" b="1" dirty="0">
                <a:solidFill>
                  <a:srgbClr val="0B3C49"/>
                </a:solidFill>
                <a:latin typeface="Cambria" pitchFamily="34" charset="0"/>
                <a:ea typeface="Cambria" pitchFamily="34" charset="-122"/>
                <a:cs typeface="Cambria" pitchFamily="34" charset="-120"/>
              </a:rPr>
              <a:t>R194.0M</a:t>
            </a:r>
            <a:endParaRPr lang="en-US" sz="3200" dirty="0"/>
          </a:p>
        </p:txBody>
      </p:sp>
      <p:sp>
        <p:nvSpPr>
          <p:cNvPr id="15" name="Text 10"/>
          <p:cNvSpPr txBox="1"/>
          <p:nvPr/>
        </p:nvSpPr>
        <p:spPr>
          <a:xfrm>
            <a:off x="3593592" y="292608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Cost of Sales</a:t>
            </a:r>
            <a:endParaRPr lang="en-US" sz="1300" dirty="0"/>
          </a:p>
        </p:txBody>
      </p:sp>
      <p:sp>
        <p:nvSpPr>
          <p:cNvPr id="16" name="Shape 11"/>
          <p:cNvSpPr/>
          <p:nvPr/>
        </p:nvSpPr>
        <p:spPr>
          <a:xfrm>
            <a:off x="6181344" y="128016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Shape 12"/>
          <p:cNvSpPr/>
          <p:nvPr/>
        </p:nvSpPr>
        <p:spPr>
          <a:xfrm>
            <a:off x="6409944" y="1508760"/>
            <a:ext cx="548640" cy="548640"/>
          </a:xfrm>
          <a:prstGeom prst="ellipse">
            <a:avLst/>
          </a:prstGeom>
          <a:solidFill>
            <a:srgbClr val="D64545"/>
          </a:solidFill>
          <a:ln w="12700">
            <a:solidFill>
              <a:srgbClr val="D64545"/>
            </a:solidFill>
            <a:prstDash val="solid"/>
          </a:ln>
        </p:spPr>
      </p:sp>
      <p:pic>
        <p:nvPicPr>
          <p:cNvPr id="18" name="Image 2" descr="preencoded.png"/>
          <p:cNvPicPr>
            <a:picLocks noChangeAspect="1"/>
          </p:cNvPicPr>
          <p:nvPr/>
        </p:nvPicPr>
        <p:blipFill>
          <a:blip r:embed="rId5"/>
          <a:stretch>
            <a:fillRect/>
          </a:stretch>
        </p:blipFill>
        <p:spPr>
          <a:xfrm>
            <a:off x="6547104" y="1645920"/>
            <a:ext cx="274320" cy="274320"/>
          </a:xfrm>
          <a:prstGeom prst="rect">
            <a:avLst/>
          </a:prstGeom>
        </p:spPr>
      </p:pic>
      <p:sp>
        <p:nvSpPr>
          <p:cNvPr id="19" name="Text 13"/>
          <p:cNvSpPr txBox="1"/>
          <p:nvPr/>
        </p:nvSpPr>
        <p:spPr>
          <a:xfrm>
            <a:off x="6409944" y="2194560"/>
            <a:ext cx="2194560" cy="685800"/>
          </a:xfrm>
          <a:prstGeom prst="rect">
            <a:avLst/>
          </a:prstGeom>
          <a:noFill/>
          <a:ln/>
        </p:spPr>
        <p:txBody>
          <a:bodyPr wrap="square" lIns="0" tIns="0" rIns="0" bIns="0" rtlCol="0" anchor="ctr"/>
          <a:lstStyle/>
          <a:p>
            <a:pPr marL="0" indent="0">
              <a:buNone/>
            </a:pPr>
            <a:r>
              <a:rPr lang="en-US" sz="3200" b="1" dirty="0">
                <a:solidFill>
                  <a:srgbClr val="D64545"/>
                </a:solidFill>
                <a:latin typeface="Cambria" pitchFamily="34" charset="0"/>
                <a:ea typeface="Cambria" pitchFamily="34" charset="-122"/>
                <a:cs typeface="Cambria" pitchFamily="34" charset="-120"/>
              </a:rPr>
              <a:t>-R7.1M</a:t>
            </a:r>
            <a:endParaRPr lang="en-US" sz="3200" dirty="0"/>
          </a:p>
        </p:txBody>
      </p:sp>
      <p:sp>
        <p:nvSpPr>
          <p:cNvPr id="20" name="Text 14"/>
          <p:cNvSpPr txBox="1"/>
          <p:nvPr/>
        </p:nvSpPr>
        <p:spPr>
          <a:xfrm>
            <a:off x="6409944" y="292608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Gross Profit</a:t>
            </a:r>
            <a:endParaRPr lang="en-US" sz="1300" dirty="0"/>
          </a:p>
        </p:txBody>
      </p:sp>
      <p:sp>
        <p:nvSpPr>
          <p:cNvPr id="21" name="Shape 15"/>
          <p:cNvSpPr/>
          <p:nvPr/>
        </p:nvSpPr>
        <p:spPr>
          <a:xfrm>
            <a:off x="8997696" y="128016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2" name="Shape 16"/>
          <p:cNvSpPr/>
          <p:nvPr/>
        </p:nvSpPr>
        <p:spPr>
          <a:xfrm>
            <a:off x="9226296" y="1508760"/>
            <a:ext cx="548640" cy="548640"/>
          </a:xfrm>
          <a:prstGeom prst="ellipse">
            <a:avLst/>
          </a:prstGeom>
          <a:solidFill>
            <a:srgbClr val="D64545"/>
          </a:solidFill>
          <a:ln w="12700">
            <a:solidFill>
              <a:srgbClr val="D64545"/>
            </a:solidFill>
            <a:prstDash val="solid"/>
          </a:ln>
        </p:spPr>
      </p:sp>
      <p:pic>
        <p:nvPicPr>
          <p:cNvPr id="23" name="Image 3" descr="preencoded.png"/>
          <p:cNvPicPr>
            <a:picLocks noChangeAspect="1"/>
          </p:cNvPicPr>
          <p:nvPr/>
        </p:nvPicPr>
        <p:blipFill>
          <a:blip r:embed="rId6"/>
          <a:stretch>
            <a:fillRect/>
          </a:stretch>
        </p:blipFill>
        <p:spPr>
          <a:xfrm>
            <a:off x="9363456" y="1645920"/>
            <a:ext cx="274320" cy="274320"/>
          </a:xfrm>
          <a:prstGeom prst="rect">
            <a:avLst/>
          </a:prstGeom>
        </p:spPr>
      </p:pic>
      <p:sp>
        <p:nvSpPr>
          <p:cNvPr id="24" name="Text 17"/>
          <p:cNvSpPr txBox="1"/>
          <p:nvPr/>
        </p:nvSpPr>
        <p:spPr>
          <a:xfrm>
            <a:off x="9226296" y="2194560"/>
            <a:ext cx="2194560" cy="685800"/>
          </a:xfrm>
          <a:prstGeom prst="rect">
            <a:avLst/>
          </a:prstGeom>
          <a:noFill/>
          <a:ln/>
        </p:spPr>
        <p:txBody>
          <a:bodyPr wrap="square" lIns="0" tIns="0" rIns="0" bIns="0" rtlCol="0" anchor="ctr"/>
          <a:lstStyle/>
          <a:p>
            <a:pPr marL="0" indent="0">
              <a:buNone/>
            </a:pPr>
            <a:r>
              <a:rPr lang="en-US" sz="3200" b="1" dirty="0">
                <a:solidFill>
                  <a:srgbClr val="D64545"/>
                </a:solidFill>
                <a:latin typeface="Cambria" pitchFamily="34" charset="0"/>
                <a:ea typeface="Cambria" pitchFamily="34" charset="-122"/>
                <a:cs typeface="Cambria" pitchFamily="34" charset="-120"/>
              </a:rPr>
              <a:t>-3.8%</a:t>
            </a:r>
            <a:endParaRPr lang="en-US" sz="3200" dirty="0"/>
          </a:p>
        </p:txBody>
      </p:sp>
      <p:sp>
        <p:nvSpPr>
          <p:cNvPr id="25" name="Text 18"/>
          <p:cNvSpPr txBox="1"/>
          <p:nvPr/>
        </p:nvSpPr>
        <p:spPr>
          <a:xfrm>
            <a:off x="9226296" y="292608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Gross Margin</a:t>
            </a:r>
            <a:endParaRPr lang="en-US" sz="1300" dirty="0"/>
          </a:p>
        </p:txBody>
      </p:sp>
      <p:sp>
        <p:nvSpPr>
          <p:cNvPr id="26" name="Shape 19"/>
          <p:cNvSpPr/>
          <p:nvPr/>
        </p:nvSpPr>
        <p:spPr>
          <a:xfrm>
            <a:off x="548640" y="374904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7" name="Shape 20"/>
          <p:cNvSpPr/>
          <p:nvPr/>
        </p:nvSpPr>
        <p:spPr>
          <a:xfrm>
            <a:off x="777240" y="3977640"/>
            <a:ext cx="548640" cy="548640"/>
          </a:xfrm>
          <a:prstGeom prst="ellipse">
            <a:avLst/>
          </a:prstGeom>
          <a:solidFill>
            <a:srgbClr val="009BA4"/>
          </a:solidFill>
          <a:ln w="12700">
            <a:solidFill>
              <a:srgbClr val="009BA4"/>
            </a:solidFill>
            <a:prstDash val="solid"/>
          </a:ln>
        </p:spPr>
      </p:sp>
      <p:pic>
        <p:nvPicPr>
          <p:cNvPr id="28" name="Image 4" descr="preencoded.png"/>
          <p:cNvPicPr>
            <a:picLocks noChangeAspect="1"/>
          </p:cNvPicPr>
          <p:nvPr/>
        </p:nvPicPr>
        <p:blipFill>
          <a:blip r:embed="rId7"/>
          <a:stretch>
            <a:fillRect/>
          </a:stretch>
        </p:blipFill>
        <p:spPr>
          <a:xfrm>
            <a:off x="914400" y="4114800"/>
            <a:ext cx="274320" cy="274320"/>
          </a:xfrm>
          <a:prstGeom prst="rect">
            <a:avLst/>
          </a:prstGeom>
        </p:spPr>
      </p:pic>
      <p:sp>
        <p:nvSpPr>
          <p:cNvPr id="29" name="Text 21"/>
          <p:cNvSpPr txBox="1"/>
          <p:nvPr/>
        </p:nvSpPr>
        <p:spPr>
          <a:xfrm>
            <a:off x="777240" y="4663440"/>
            <a:ext cx="2194560" cy="685800"/>
          </a:xfrm>
          <a:prstGeom prst="rect">
            <a:avLst/>
          </a:prstGeom>
          <a:noFill/>
          <a:ln/>
        </p:spPr>
        <p:txBody>
          <a:bodyPr wrap="square" lIns="0" tIns="0" rIns="0" bIns="0" rtlCol="0" anchor="ctr"/>
          <a:lstStyle/>
          <a:p>
            <a:pPr marL="0" indent="0">
              <a:buNone/>
            </a:pPr>
            <a:r>
              <a:rPr lang="en-US" sz="3200" b="1" dirty="0">
                <a:solidFill>
                  <a:srgbClr val="0B3C49"/>
                </a:solidFill>
                <a:latin typeface="Cambria" pitchFamily="34" charset="0"/>
                <a:ea typeface="Cambria" pitchFamily="34" charset="-122"/>
                <a:cs typeface="Cambria" pitchFamily="34" charset="-120"/>
              </a:rPr>
              <a:t>5.28M</a:t>
            </a:r>
            <a:endParaRPr lang="en-US" sz="3200" dirty="0"/>
          </a:p>
        </p:txBody>
      </p:sp>
      <p:sp>
        <p:nvSpPr>
          <p:cNvPr id="30" name="Text 22"/>
          <p:cNvSpPr txBox="1"/>
          <p:nvPr/>
        </p:nvSpPr>
        <p:spPr>
          <a:xfrm>
            <a:off x="777240" y="539496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Units Sold</a:t>
            </a:r>
            <a:endParaRPr lang="en-US" sz="1300" dirty="0"/>
          </a:p>
        </p:txBody>
      </p:sp>
      <p:sp>
        <p:nvSpPr>
          <p:cNvPr id="31" name="Shape 23"/>
          <p:cNvSpPr/>
          <p:nvPr/>
        </p:nvSpPr>
        <p:spPr>
          <a:xfrm>
            <a:off x="3364992" y="374904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2" name="Shape 24"/>
          <p:cNvSpPr/>
          <p:nvPr/>
        </p:nvSpPr>
        <p:spPr>
          <a:xfrm>
            <a:off x="3593592" y="3977640"/>
            <a:ext cx="548640" cy="548640"/>
          </a:xfrm>
          <a:prstGeom prst="ellipse">
            <a:avLst/>
          </a:prstGeom>
          <a:solidFill>
            <a:srgbClr val="009BA4"/>
          </a:solidFill>
          <a:ln w="12700">
            <a:solidFill>
              <a:srgbClr val="009BA4"/>
            </a:solidFill>
            <a:prstDash val="solid"/>
          </a:ln>
        </p:spPr>
      </p:sp>
      <p:pic>
        <p:nvPicPr>
          <p:cNvPr id="33" name="Image 5" descr="preencoded.png"/>
          <p:cNvPicPr>
            <a:picLocks noChangeAspect="1"/>
          </p:cNvPicPr>
          <p:nvPr/>
        </p:nvPicPr>
        <p:blipFill>
          <a:blip r:embed="rId8"/>
          <a:stretch>
            <a:fillRect/>
          </a:stretch>
        </p:blipFill>
        <p:spPr>
          <a:xfrm>
            <a:off x="3730752" y="4114800"/>
            <a:ext cx="274320" cy="274320"/>
          </a:xfrm>
          <a:prstGeom prst="rect">
            <a:avLst/>
          </a:prstGeom>
        </p:spPr>
      </p:pic>
      <p:sp>
        <p:nvSpPr>
          <p:cNvPr id="34" name="Text 25"/>
          <p:cNvSpPr txBox="1"/>
          <p:nvPr/>
        </p:nvSpPr>
        <p:spPr>
          <a:xfrm>
            <a:off x="3593592" y="4663440"/>
            <a:ext cx="2194560" cy="685800"/>
          </a:xfrm>
          <a:prstGeom prst="rect">
            <a:avLst/>
          </a:prstGeom>
          <a:noFill/>
          <a:ln/>
        </p:spPr>
        <p:txBody>
          <a:bodyPr wrap="square" lIns="0" tIns="0" rIns="0" bIns="0" rtlCol="0" anchor="ctr"/>
          <a:lstStyle/>
          <a:p>
            <a:pPr marL="0" indent="0">
              <a:buNone/>
            </a:pPr>
            <a:r>
              <a:rPr lang="en-US" sz="3200" b="1" dirty="0">
                <a:solidFill>
                  <a:srgbClr val="0B3C49"/>
                </a:solidFill>
                <a:latin typeface="Cambria" pitchFamily="34" charset="0"/>
                <a:ea typeface="Cambria" pitchFamily="34" charset="-122"/>
                <a:cs typeface="Cambria" pitchFamily="34" charset="-120"/>
              </a:rPr>
              <a:t>1,053</a:t>
            </a:r>
            <a:endParaRPr lang="en-US" sz="3200" dirty="0"/>
          </a:p>
        </p:txBody>
      </p:sp>
      <p:sp>
        <p:nvSpPr>
          <p:cNvPr id="35" name="Text 26"/>
          <p:cNvSpPr txBox="1"/>
          <p:nvPr/>
        </p:nvSpPr>
        <p:spPr>
          <a:xfrm>
            <a:off x="3593592" y="539496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Trading Days</a:t>
            </a:r>
            <a:endParaRPr lang="en-US" sz="1300" dirty="0"/>
          </a:p>
        </p:txBody>
      </p:sp>
      <p:sp>
        <p:nvSpPr>
          <p:cNvPr id="36" name="Shape 27"/>
          <p:cNvSpPr/>
          <p:nvPr/>
        </p:nvSpPr>
        <p:spPr>
          <a:xfrm>
            <a:off x="6181344" y="374904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7" name="Shape 28"/>
          <p:cNvSpPr/>
          <p:nvPr/>
        </p:nvSpPr>
        <p:spPr>
          <a:xfrm>
            <a:off x="6409944" y="3977640"/>
            <a:ext cx="548640" cy="548640"/>
          </a:xfrm>
          <a:prstGeom prst="ellipse">
            <a:avLst/>
          </a:prstGeom>
          <a:solidFill>
            <a:srgbClr val="009BA4"/>
          </a:solidFill>
          <a:ln w="12700">
            <a:solidFill>
              <a:srgbClr val="009BA4"/>
            </a:solidFill>
            <a:prstDash val="solid"/>
          </a:ln>
        </p:spPr>
      </p:sp>
      <p:pic>
        <p:nvPicPr>
          <p:cNvPr id="38" name="Image 6" descr="preencoded.png"/>
          <p:cNvPicPr>
            <a:picLocks noChangeAspect="1"/>
          </p:cNvPicPr>
          <p:nvPr/>
        </p:nvPicPr>
        <p:blipFill>
          <a:blip r:embed="rId9"/>
          <a:stretch>
            <a:fillRect/>
          </a:stretch>
        </p:blipFill>
        <p:spPr>
          <a:xfrm>
            <a:off x="6547104" y="4114800"/>
            <a:ext cx="274320" cy="274320"/>
          </a:xfrm>
          <a:prstGeom prst="rect">
            <a:avLst/>
          </a:prstGeom>
        </p:spPr>
      </p:pic>
      <p:sp>
        <p:nvSpPr>
          <p:cNvPr id="39" name="Text 29"/>
          <p:cNvSpPr txBox="1"/>
          <p:nvPr/>
        </p:nvSpPr>
        <p:spPr>
          <a:xfrm>
            <a:off x="6409944" y="4663440"/>
            <a:ext cx="2194560" cy="685800"/>
          </a:xfrm>
          <a:prstGeom prst="rect">
            <a:avLst/>
          </a:prstGeom>
          <a:noFill/>
          <a:ln/>
        </p:spPr>
        <p:txBody>
          <a:bodyPr wrap="square" lIns="0" tIns="0" rIns="0" bIns="0" rtlCol="0" anchor="ctr"/>
          <a:lstStyle/>
          <a:p>
            <a:pPr marL="0" indent="0">
              <a:buNone/>
            </a:pPr>
            <a:r>
              <a:rPr lang="en-US" sz="3200" b="1" dirty="0">
                <a:solidFill>
                  <a:srgbClr val="0B3C49"/>
                </a:solidFill>
                <a:latin typeface="Cambria" pitchFamily="34" charset="0"/>
                <a:ea typeface="Cambria" pitchFamily="34" charset="-122"/>
                <a:cs typeface="Cambria" pitchFamily="34" charset="-120"/>
              </a:rPr>
              <a:t>R177.5K</a:t>
            </a:r>
            <a:endParaRPr lang="en-US" sz="3200" dirty="0"/>
          </a:p>
        </p:txBody>
      </p:sp>
      <p:sp>
        <p:nvSpPr>
          <p:cNvPr id="40" name="Text 30"/>
          <p:cNvSpPr txBox="1"/>
          <p:nvPr/>
        </p:nvSpPr>
        <p:spPr>
          <a:xfrm>
            <a:off x="6409944" y="539496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Avg Daily Sales</a:t>
            </a:r>
            <a:endParaRPr lang="en-US" sz="1300" dirty="0"/>
          </a:p>
        </p:txBody>
      </p:sp>
      <p:sp>
        <p:nvSpPr>
          <p:cNvPr id="41" name="Shape 31"/>
          <p:cNvSpPr/>
          <p:nvPr/>
        </p:nvSpPr>
        <p:spPr>
          <a:xfrm>
            <a:off x="8997696" y="3749040"/>
            <a:ext cx="2606040" cy="2194560"/>
          </a:xfrm>
          <a:prstGeom prst="roundRect">
            <a:avLst>
              <a:gd name="adj" fmla="val 4167"/>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2" name="Shape 32"/>
          <p:cNvSpPr/>
          <p:nvPr/>
        </p:nvSpPr>
        <p:spPr>
          <a:xfrm>
            <a:off x="9226296" y="3977640"/>
            <a:ext cx="548640" cy="548640"/>
          </a:xfrm>
          <a:prstGeom prst="ellipse">
            <a:avLst/>
          </a:prstGeom>
          <a:solidFill>
            <a:srgbClr val="F26B21"/>
          </a:solidFill>
          <a:ln w="12700">
            <a:solidFill>
              <a:srgbClr val="F26B21"/>
            </a:solidFill>
            <a:prstDash val="solid"/>
          </a:ln>
        </p:spPr>
      </p:sp>
      <p:pic>
        <p:nvPicPr>
          <p:cNvPr id="43" name="Image 7" descr="preencoded.png"/>
          <p:cNvPicPr>
            <a:picLocks noChangeAspect="1"/>
          </p:cNvPicPr>
          <p:nvPr/>
        </p:nvPicPr>
        <p:blipFill>
          <a:blip r:embed="rId10"/>
          <a:stretch>
            <a:fillRect/>
          </a:stretch>
        </p:blipFill>
        <p:spPr>
          <a:xfrm>
            <a:off x="9363456" y="4114800"/>
            <a:ext cx="274320" cy="274320"/>
          </a:xfrm>
          <a:prstGeom prst="rect">
            <a:avLst/>
          </a:prstGeom>
        </p:spPr>
      </p:pic>
      <p:sp>
        <p:nvSpPr>
          <p:cNvPr id="44" name="Text 33"/>
          <p:cNvSpPr txBox="1"/>
          <p:nvPr/>
        </p:nvSpPr>
        <p:spPr>
          <a:xfrm>
            <a:off x="9226296" y="4663440"/>
            <a:ext cx="2194560" cy="685800"/>
          </a:xfrm>
          <a:prstGeom prst="rect">
            <a:avLst/>
          </a:prstGeom>
          <a:noFill/>
          <a:ln/>
        </p:spPr>
        <p:txBody>
          <a:bodyPr wrap="square" lIns="0" tIns="0" rIns="0" bIns="0" rtlCol="0" anchor="ctr"/>
          <a:lstStyle/>
          <a:p>
            <a:pPr marL="0" indent="0">
              <a:buNone/>
            </a:pPr>
            <a:r>
              <a:rPr lang="en-US" sz="2400" b="1" dirty="0">
                <a:solidFill>
                  <a:srgbClr val="0B3C49"/>
                </a:solidFill>
                <a:latin typeface="Cambria" pitchFamily="34" charset="0"/>
                <a:ea typeface="Cambria" pitchFamily="34" charset="-122"/>
                <a:cs typeface="Cambria" pitchFamily="34" charset="-120"/>
              </a:rPr>
              <a:t>R35.40 / R36.75</a:t>
            </a:r>
            <a:endParaRPr lang="en-US" sz="2400" dirty="0"/>
          </a:p>
        </p:txBody>
      </p:sp>
      <p:sp>
        <p:nvSpPr>
          <p:cNvPr id="45" name="Text 34"/>
          <p:cNvSpPr txBox="1"/>
          <p:nvPr/>
        </p:nvSpPr>
        <p:spPr>
          <a:xfrm>
            <a:off x="9226296" y="5394960"/>
            <a:ext cx="2194560" cy="36576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Avg Price / Cost per Unit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Sales Performance Analysis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8</a:t>
            </a:r>
            <a:endParaRPr lang="en-US" sz="1000" dirty="0"/>
          </a:p>
        </p:txBody>
      </p:sp>
      <p:graphicFrame>
        <p:nvGraphicFramePr>
          <p:cNvPr id="6" name="Chart 0"/>
          <p:cNvGraphicFramePr/>
          <p:nvPr/>
        </p:nvGraphicFramePr>
        <p:xfrm>
          <a:off x="457200" y="1143000"/>
          <a:ext cx="676656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7498080" y="1143000"/>
          <a:ext cx="420624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548640" y="4937760"/>
            <a:ext cx="11109960" cy="1325880"/>
          </a:xfrm>
          <a:prstGeom prst="roundRect">
            <a:avLst>
              <a:gd name="adj" fmla="val 6897"/>
            </a:avLst>
          </a:prstGeom>
          <a:solidFill>
            <a:srgbClr val="E1F3F4"/>
          </a:solidFill>
          <a:ln w="12700">
            <a:solidFill>
              <a:srgbClr val="E1F3F4"/>
            </a:solidFill>
            <a:prstDash val="solid"/>
          </a:ln>
        </p:spPr>
      </p:sp>
      <p:sp>
        <p:nvSpPr>
          <p:cNvPr id="9" name="Text 4"/>
          <p:cNvSpPr txBox="1"/>
          <p:nvPr/>
        </p:nvSpPr>
        <p:spPr>
          <a:xfrm>
            <a:off x="777240" y="507492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10" name="Text 5"/>
          <p:cNvSpPr txBox="1"/>
          <p:nvPr/>
        </p:nvSpPr>
        <p:spPr>
          <a:xfrm>
            <a:off x="777240" y="5394960"/>
            <a:ext cx="10652760" cy="73152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Sales peaked at R10.0M in Aug 2014. Average daily sales have declined every year (R206.6K → R175.4K → R146.3K), a 29% fall from 2014 to 2016. Total by year: 2014 R75.4M, 2015 R64.0M, 2016 (to 16 Nov) R47.0M.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Profitability by Year</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9</a:t>
            </a:r>
            <a:endParaRPr lang="en-US" sz="1000" dirty="0"/>
          </a:p>
        </p:txBody>
      </p:sp>
      <p:graphicFrame>
        <p:nvGraphicFramePr>
          <p:cNvPr id="6" name="Chart 0"/>
          <p:cNvGraphicFramePr/>
          <p:nvPr/>
        </p:nvGraphicFramePr>
        <p:xfrm>
          <a:off x="457200" y="1143000"/>
          <a:ext cx="658368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7315200" y="1143000"/>
          <a:ext cx="438912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548640" y="4937760"/>
            <a:ext cx="11109960" cy="1325880"/>
          </a:xfrm>
          <a:prstGeom prst="roundRect">
            <a:avLst>
              <a:gd name="adj" fmla="val 6897"/>
            </a:avLst>
          </a:prstGeom>
          <a:solidFill>
            <a:srgbClr val="E1F3F4"/>
          </a:solidFill>
          <a:ln w="12700">
            <a:solidFill>
              <a:srgbClr val="E1F3F4"/>
            </a:solidFill>
            <a:prstDash val="solid"/>
          </a:ln>
        </p:spPr>
      </p:sp>
      <p:sp>
        <p:nvSpPr>
          <p:cNvPr id="9" name="Text 4"/>
          <p:cNvSpPr txBox="1"/>
          <p:nvPr/>
        </p:nvSpPr>
        <p:spPr>
          <a:xfrm>
            <a:off x="777240" y="507492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10" name="Text 5"/>
          <p:cNvSpPr txBox="1"/>
          <p:nvPr/>
        </p:nvSpPr>
        <p:spPr>
          <a:xfrm>
            <a:off x="777240" y="5394960"/>
            <a:ext cx="10652760" cy="73152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Cost of sales exceeded sales in every year. 2015 was the worst: a R3.9M gross loss (-6.1% margin) versus R2.3M in 2014 (-3.0%). 2016 to 16 Nov has lost R0.9M (-2.0%), the smallest loss so far.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Price vs Cost per Unit</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graphicFrame>
        <p:nvGraphicFramePr>
          <p:cNvPr id="6" name="Chart 0"/>
          <p:cNvGraphicFramePr/>
          <p:nvPr/>
        </p:nvGraphicFramePr>
        <p:xfrm>
          <a:off x="457200" y="1143000"/>
          <a:ext cx="676656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7498080" y="1143000"/>
          <a:ext cx="420624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548640" y="4937760"/>
            <a:ext cx="11109960" cy="1325880"/>
          </a:xfrm>
          <a:prstGeom prst="roundRect">
            <a:avLst>
              <a:gd name="adj" fmla="val 6897"/>
            </a:avLst>
          </a:prstGeom>
          <a:solidFill>
            <a:srgbClr val="E1F3F4"/>
          </a:solidFill>
          <a:ln w="12700">
            <a:solidFill>
              <a:srgbClr val="E1F3F4"/>
            </a:solidFill>
            <a:prstDash val="solid"/>
          </a:ln>
        </p:spPr>
      </p:sp>
      <p:sp>
        <p:nvSpPr>
          <p:cNvPr id="9" name="Text 4"/>
          <p:cNvSpPr txBox="1"/>
          <p:nvPr/>
        </p:nvSpPr>
        <p:spPr>
          <a:xfrm>
            <a:off x="777240" y="507492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10" name="Text 5"/>
          <p:cNvSpPr txBox="1"/>
          <p:nvPr/>
        </p:nvSpPr>
        <p:spPr>
          <a:xfrm>
            <a:off x="777240" y="5394960"/>
            <a:ext cx="10652760" cy="73152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Cost per unit rose 15% in 2015 (R34.46 → R39.60) while price rose only 12% (R33.46 → R37.33), widening the gap to R2.27 a unit. In 2016 cost eased to R37.00 and the gap narrowed to R0.72.</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Monthly Gross Profit / Loss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graphicFrame>
        <p:nvGraphicFramePr>
          <p:cNvPr id="6" name="Chart 0"/>
          <p:cNvGraphicFramePr/>
          <p:nvPr/>
        </p:nvGraphicFramePr>
        <p:xfrm>
          <a:off x="457200" y="1143000"/>
          <a:ext cx="1124712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548640" y="4937760"/>
            <a:ext cx="11109960" cy="1325880"/>
          </a:xfrm>
          <a:prstGeom prst="roundRect">
            <a:avLst>
              <a:gd name="adj" fmla="val 6897"/>
            </a:avLst>
          </a:prstGeom>
          <a:solidFill>
            <a:srgbClr val="E1F3F4"/>
          </a:solidFill>
          <a:ln w="12700">
            <a:solidFill>
              <a:srgbClr val="E1F3F4"/>
            </a:solidFill>
            <a:prstDash val="solid"/>
          </a:ln>
        </p:spPr>
      </p:sp>
      <p:sp>
        <p:nvSpPr>
          <p:cNvPr id="8" name="Text 4"/>
          <p:cNvSpPr txBox="1"/>
          <p:nvPr/>
        </p:nvSpPr>
        <p:spPr>
          <a:xfrm>
            <a:off x="777240" y="507492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9" name="Text 5"/>
          <p:cNvSpPr txBox="1"/>
          <p:nvPr/>
        </p:nvSpPr>
        <p:spPr>
          <a:xfrm>
            <a:off x="777240" y="5394960"/>
            <a:ext cx="10652760" cy="73152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Only 7 of 35 full months were profitable, five of them in 2016. Worst: Nov 2015 (-R600.7K). Best: Oct 2016 (+R220.0K). The move toward profit in 2016 came with lower sales volumes.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Promotion Period Performance</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graphicFrame>
        <p:nvGraphicFramePr>
          <p:cNvPr id="6" name="Chart 0"/>
          <p:cNvGraphicFramePr/>
          <p:nvPr/>
        </p:nvGraphicFramePr>
        <p:xfrm>
          <a:off x="457200" y="1143000"/>
          <a:ext cx="65836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7315200" y="1143000"/>
            <a:ext cx="4343400" cy="3749040"/>
          </a:xfrm>
          <a:prstGeom prst="roundRect">
            <a:avLst>
              <a:gd name="adj" fmla="val 243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Text 4"/>
          <p:cNvSpPr txBox="1"/>
          <p:nvPr/>
        </p:nvSpPr>
        <p:spPr>
          <a:xfrm>
            <a:off x="7543800" y="1280160"/>
            <a:ext cx="3931920" cy="36576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Gross profit per day</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543800" y="1783080"/>
          <a:ext cx="3886200" cy="2468880"/>
        </p:xfrm>
        <a:graphic>
          <a:graphicData uri="http://schemas.openxmlformats.org/drawingml/2006/table">
            <a:tbl>
              <a:tblPr/>
              <a:tblGrid>
                <a:gridCol w="15544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Period</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solidFill>
                      <a:srgbClr val="0B3C49"/>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Days</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solidFill>
                      <a:srgbClr val="0B3C49"/>
                    </a:solidFill>
                  </a:tcPr>
                </a:tc>
                <a:tc>
                  <a:txBody>
                    <a:bodyPr/>
                    <a:lstStyle/>
                    <a:p>
                      <a:pPr marL="0" indent="0" algn="r">
                        <a:buNone/>
                      </a:pPr>
                      <a:r>
                        <a:rPr lang="en-US" sz="1300" b="1" dirty="0">
                          <a:solidFill>
                            <a:srgbClr val="FFFFFF"/>
                          </a:solidFill>
                          <a:latin typeface="Calibri" pitchFamily="34" charset="0"/>
                          <a:ea typeface="Calibri" pitchFamily="34" charset="-122"/>
                          <a:cs typeface="Calibri" pitchFamily="34" charset="-120"/>
                        </a:rPr>
                        <a:t>Profit / day</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solidFill>
                      <a:srgbClr val="0B3C49"/>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rgbClr val="0B3C49"/>
                          </a:solidFill>
                          <a:latin typeface="Calibri" pitchFamily="34" charset="0"/>
                          <a:ea typeface="Calibri" pitchFamily="34" charset="-122"/>
                          <a:cs typeface="Calibri" pitchFamily="34" charset="-120"/>
                        </a:rPr>
                        <a:t>Promo 3</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dirty="0">
                          <a:solidFill>
                            <a:srgbClr val="0B3C49"/>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b="1" dirty="0">
                          <a:solidFill>
                            <a:srgbClr val="D64545"/>
                          </a:solidFill>
                          <a:latin typeface="Calibri" pitchFamily="34" charset="0"/>
                          <a:ea typeface="Calibri" pitchFamily="34" charset="-122"/>
                          <a:cs typeface="Calibri" pitchFamily="34" charset="-120"/>
                        </a:rPr>
                        <a:t>-R10.8K</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300" dirty="0">
                          <a:solidFill>
                            <a:srgbClr val="0B3C49"/>
                          </a:solidFill>
                          <a:latin typeface="Calibri" pitchFamily="34" charset="0"/>
                          <a:ea typeface="Calibri" pitchFamily="34" charset="-122"/>
                          <a:cs typeface="Calibri" pitchFamily="34" charset="-120"/>
                        </a:rPr>
                        <a:t>Promo 4</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dirty="0">
                          <a:solidFill>
                            <a:srgbClr val="0B3C49"/>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b="1" dirty="0">
                          <a:solidFill>
                            <a:srgbClr val="D64545"/>
                          </a:solidFill>
                          <a:latin typeface="Calibri" pitchFamily="34" charset="0"/>
                          <a:ea typeface="Calibri" pitchFamily="34" charset="-122"/>
                          <a:cs typeface="Calibri" pitchFamily="34" charset="-120"/>
                        </a:rPr>
                        <a:t>-R7.0K</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300" dirty="0">
                          <a:solidFill>
                            <a:srgbClr val="0B3C49"/>
                          </a:solidFill>
                          <a:latin typeface="Calibri" pitchFamily="34" charset="0"/>
                          <a:ea typeface="Calibri" pitchFamily="34" charset="-122"/>
                          <a:cs typeface="Calibri" pitchFamily="34" charset="-120"/>
                        </a:rPr>
                        <a:t>Promo 1</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dirty="0">
                          <a:solidFill>
                            <a:srgbClr val="0B3C49"/>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b="1" dirty="0">
                          <a:solidFill>
                            <a:srgbClr val="D64545"/>
                          </a:solidFill>
                          <a:latin typeface="Calibri" pitchFamily="34" charset="0"/>
                          <a:ea typeface="Calibri" pitchFamily="34" charset="-122"/>
                          <a:cs typeface="Calibri" pitchFamily="34" charset="-120"/>
                        </a:rPr>
                        <a:t>-R5.2K</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300" dirty="0">
                          <a:solidFill>
                            <a:srgbClr val="0B3C49"/>
                          </a:solidFill>
                          <a:latin typeface="Calibri" pitchFamily="34" charset="0"/>
                          <a:ea typeface="Calibri" pitchFamily="34" charset="-122"/>
                          <a:cs typeface="Calibri" pitchFamily="34" charset="-120"/>
                        </a:rPr>
                        <a:t>Promo 2</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dirty="0">
                          <a:solidFill>
                            <a:srgbClr val="0B3C49"/>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b="1" dirty="0">
                          <a:solidFill>
                            <a:srgbClr val="D64545"/>
                          </a:solidFill>
                          <a:latin typeface="Calibri" pitchFamily="34" charset="0"/>
                          <a:ea typeface="Calibri" pitchFamily="34" charset="-122"/>
                          <a:cs typeface="Calibri" pitchFamily="34" charset="-120"/>
                        </a:rPr>
                        <a:t>-R6.1K</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300" dirty="0">
                          <a:solidFill>
                            <a:srgbClr val="0B3C49"/>
                          </a:solidFill>
                          <a:latin typeface="Calibri" pitchFamily="34" charset="0"/>
                          <a:ea typeface="Calibri" pitchFamily="34" charset="-122"/>
                          <a:cs typeface="Calibri" pitchFamily="34" charset="-120"/>
                        </a:rPr>
                        <a:t>Non-promo</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dirty="0">
                          <a:solidFill>
                            <a:srgbClr val="0B3C49"/>
                          </a:solidFill>
                          <a:latin typeface="Calibri" pitchFamily="34" charset="0"/>
                          <a:ea typeface="Calibri" pitchFamily="34" charset="-122"/>
                          <a:cs typeface="Calibri" pitchFamily="34" charset="-120"/>
                        </a:rPr>
                        <a:t>995</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tc>
                  <a:txBody>
                    <a:bodyPr/>
                    <a:lstStyle/>
                    <a:p>
                      <a:pPr marL="0" indent="0" algn="r">
                        <a:buNone/>
                      </a:pPr>
                      <a:r>
                        <a:rPr lang="en-US" sz="1300" b="1" dirty="0">
                          <a:solidFill>
                            <a:srgbClr val="D64545"/>
                          </a:solidFill>
                          <a:latin typeface="Calibri" pitchFamily="34" charset="0"/>
                          <a:ea typeface="Calibri" pitchFamily="34" charset="-122"/>
                          <a:cs typeface="Calibri" pitchFamily="34" charset="-120"/>
                        </a:rPr>
                        <a:t>-R6.7K</a:t>
                      </a:r>
                      <a:endParaRPr lang="en-US" sz="1300" dirty="0">
                        <a:latin typeface="Calibri" charset="0"/>
                        <a:ea typeface="Calibri" charset="0"/>
                        <a:cs typeface="Calibri" charset="0"/>
                      </a:endParaRPr>
                    </a:p>
                  </a:txBody>
                  <a:tcPr>
                    <a:lnL w="9525" cap="flat" cmpd="sng" algn="ctr">
                      <a:solidFill>
                        <a:srgbClr val="DDE5E8"/>
                      </a:solidFill>
                      <a:prstDash val="solid"/>
                      <a:round/>
                      <a:headEnd type="none" w="med" len="med"/>
                      <a:tailEnd type="none" w="med" len="med"/>
                    </a:lnL>
                    <a:lnR w="9525" cap="flat" cmpd="sng" algn="ctr">
                      <a:solidFill>
                        <a:srgbClr val="DDE5E8"/>
                      </a:solidFill>
                      <a:prstDash val="solid"/>
                      <a:round/>
                      <a:headEnd type="none" w="med" len="med"/>
                      <a:tailEnd type="none" w="med" len="med"/>
                    </a:lnR>
                    <a:lnT w="9525" cap="flat" cmpd="sng" algn="ctr">
                      <a:solidFill>
                        <a:srgbClr val="DDE5E8"/>
                      </a:solidFill>
                      <a:prstDash val="solid"/>
                      <a:round/>
                      <a:headEnd type="none" w="med" len="med"/>
                      <a:tailEnd type="none" w="med" len="med"/>
                    </a:lnT>
                    <a:lnB w="9525" cap="flat" cmpd="sng" algn="ctr">
                      <a:solidFill>
                        <a:srgbClr val="DDE5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5"/>
          <p:cNvSpPr txBox="1"/>
          <p:nvPr/>
        </p:nvSpPr>
        <p:spPr>
          <a:xfrm>
            <a:off x="7543800" y="4343400"/>
            <a:ext cx="3886200" cy="457200"/>
          </a:xfrm>
          <a:prstGeom prst="rect">
            <a:avLst/>
          </a:prstGeom>
          <a:noFill/>
          <a:ln/>
        </p:spPr>
        <p:txBody>
          <a:bodyPr wrap="square" lIns="0" tIns="0" rIns="0" bIns="0" rtlCol="0" anchor="ctr"/>
          <a:lstStyle/>
          <a:p>
            <a:pPr marL="0" indent="0">
              <a:buNone/>
            </a:pPr>
            <a:r>
              <a:rPr lang="en-US" sz="900" dirty="0">
                <a:solidFill>
                  <a:srgbClr val="5B6B73"/>
                </a:solidFill>
                <a:latin typeface="Calibri" pitchFamily="34" charset="0"/>
                <a:ea typeface="Calibri" pitchFamily="34" charset="-122"/>
                <a:cs typeface="Calibri" pitchFamily="34" charset="-120"/>
              </a:rPr>
              <a:t>Promo 1: 30 Dec 2013–7 Jan 2014. Promo 2: 7–17 Feb. Promo 3: 21 Feb–17 Mar. Promo 4: 10–22 Apr 2014.</a:t>
            </a:r>
            <a:endParaRPr lang="en-US" sz="900" dirty="0"/>
          </a:p>
        </p:txBody>
      </p:sp>
      <p:sp>
        <p:nvSpPr>
          <p:cNvPr id="11" name="Shape 6"/>
          <p:cNvSpPr/>
          <p:nvPr/>
        </p:nvSpPr>
        <p:spPr>
          <a:xfrm>
            <a:off x="548640" y="5029200"/>
            <a:ext cx="11109960" cy="1234440"/>
          </a:xfrm>
          <a:prstGeom prst="roundRect">
            <a:avLst>
              <a:gd name="adj" fmla="val 7407"/>
            </a:avLst>
          </a:prstGeom>
          <a:solidFill>
            <a:srgbClr val="E1F3F4"/>
          </a:solidFill>
          <a:ln w="12700">
            <a:solidFill>
              <a:srgbClr val="E1F3F4"/>
            </a:solidFill>
            <a:prstDash val="solid"/>
          </a:ln>
        </p:spPr>
      </p:sp>
      <p:sp>
        <p:nvSpPr>
          <p:cNvPr id="12" name="Text 7"/>
          <p:cNvSpPr txBox="1"/>
          <p:nvPr/>
        </p:nvSpPr>
        <p:spPr>
          <a:xfrm>
            <a:off x="777240" y="516636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5" name="Text 8"/>
          <p:cNvSpPr txBox="1"/>
          <p:nvPr/>
        </p:nvSpPr>
        <p:spPr>
          <a:xfrm>
            <a:off x="777240" y="5486400"/>
            <a:ext cx="10652760" cy="64008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Promotion period 3 was the best seller (R335K/day, 10,440 units/day), but it also lost the most per day (-R10.8K). All four promotion periods ran at a loss, and all took place between Dec 2013 and Apr 2014.</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Time-Based Sales Analysis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graphicFrame>
        <p:nvGraphicFramePr>
          <p:cNvPr id="6" name="Chart 0"/>
          <p:cNvGraphicFramePr/>
          <p:nvPr/>
        </p:nvGraphicFramePr>
        <p:xfrm>
          <a:off x="457200" y="1143000"/>
          <a:ext cx="640080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7040880" y="1143000"/>
          <a:ext cx="466344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548640" y="4892040"/>
            <a:ext cx="11109960" cy="1371600"/>
          </a:xfrm>
          <a:prstGeom prst="roundRect">
            <a:avLst>
              <a:gd name="adj" fmla="val 6667"/>
            </a:avLst>
          </a:prstGeom>
          <a:solidFill>
            <a:srgbClr val="E1F3F4"/>
          </a:solidFill>
          <a:ln w="12700">
            <a:solidFill>
              <a:srgbClr val="E1F3F4"/>
            </a:solidFill>
            <a:prstDash val="solid"/>
          </a:ln>
        </p:spPr>
      </p:sp>
      <p:sp>
        <p:nvSpPr>
          <p:cNvPr id="9" name="Text 4"/>
          <p:cNvSpPr txBox="1"/>
          <p:nvPr/>
        </p:nvSpPr>
        <p:spPr>
          <a:xfrm>
            <a:off x="777240" y="502920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10" name="Text 5"/>
          <p:cNvSpPr txBox="1"/>
          <p:nvPr/>
        </p:nvSpPr>
        <p:spPr>
          <a:xfrm>
            <a:off x="777240" y="5349240"/>
            <a:ext cx="10652760" cy="77724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May is the strongest month (R228K/day) and July the weakest (R128K/day). Saturday (R279K) and Friday (R245K) lead the week and together generate 42% of sales; Tuesday is lowest at R137K. Date-only data, so no time-of-day view.</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Weekday Profit / Loss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graphicFrame>
        <p:nvGraphicFramePr>
          <p:cNvPr id="6" name="Chart 0"/>
          <p:cNvGraphicFramePr/>
          <p:nvPr/>
        </p:nvGraphicFramePr>
        <p:xfrm>
          <a:off x="457200" y="1143000"/>
          <a:ext cx="5852160" cy="3657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492240" y="1143000"/>
          <a:ext cx="521208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3"/>
          <p:cNvSpPr/>
          <p:nvPr/>
        </p:nvSpPr>
        <p:spPr>
          <a:xfrm>
            <a:off x="548640" y="4937760"/>
            <a:ext cx="11109960" cy="1325880"/>
          </a:xfrm>
          <a:prstGeom prst="roundRect">
            <a:avLst>
              <a:gd name="adj" fmla="val 6897"/>
            </a:avLst>
          </a:prstGeom>
          <a:solidFill>
            <a:srgbClr val="E1F3F4"/>
          </a:solidFill>
          <a:ln w="12700">
            <a:solidFill>
              <a:srgbClr val="E1F3F4"/>
            </a:solidFill>
            <a:prstDash val="solid"/>
          </a:ln>
        </p:spPr>
      </p:sp>
      <p:sp>
        <p:nvSpPr>
          <p:cNvPr id="9" name="Text 4"/>
          <p:cNvSpPr txBox="1"/>
          <p:nvPr/>
        </p:nvSpPr>
        <p:spPr>
          <a:xfrm>
            <a:off x="777240" y="507492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10" name="Text 5"/>
          <p:cNvSpPr txBox="1"/>
          <p:nvPr/>
        </p:nvSpPr>
        <p:spPr>
          <a:xfrm>
            <a:off x="777240" y="5394960"/>
            <a:ext cx="10652760" cy="73152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Saturday loses R12.0K a day and Friday R9.5K, against R4.6K–R5.9K on other days. Together they account for R3.2M (45%) of the R7.1M total loss, because the busiest days lose the most at current pricing.</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Pricing &amp; Promotion Impact</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graphicFrame>
        <p:nvGraphicFramePr>
          <p:cNvPr id="6" name="Chart 0"/>
          <p:cNvGraphicFramePr/>
          <p:nvPr/>
        </p:nvGraphicFramePr>
        <p:xfrm>
          <a:off x="457200" y="1143000"/>
          <a:ext cx="56692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6400800" y="1188720"/>
            <a:ext cx="5212080" cy="32004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Promotion vs non-promotion</a:t>
            </a:r>
            <a:endParaRPr lang="en-US" sz="1600" dirty="0"/>
          </a:p>
        </p:txBody>
      </p:sp>
      <p:sp>
        <p:nvSpPr>
          <p:cNvPr id="8" name="Shape 4"/>
          <p:cNvSpPr/>
          <p:nvPr/>
        </p:nvSpPr>
        <p:spPr>
          <a:xfrm>
            <a:off x="6400800" y="1554480"/>
            <a:ext cx="5257800" cy="566928"/>
          </a:xfrm>
          <a:prstGeom prst="roundRect">
            <a:avLst>
              <a:gd name="adj" fmla="val 1612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9" name="Text 5"/>
          <p:cNvSpPr txBox="1"/>
          <p:nvPr/>
        </p:nvSpPr>
        <p:spPr>
          <a:xfrm>
            <a:off x="6583680" y="1554480"/>
            <a:ext cx="1645920" cy="566928"/>
          </a:xfrm>
          <a:prstGeom prst="rect">
            <a:avLst/>
          </a:prstGeom>
          <a:noFill/>
          <a:ln/>
        </p:spPr>
        <p:txBody>
          <a:bodyPr wrap="square" lIns="0" tIns="0" rIns="0" bIns="0" rtlCol="0" anchor="ctr"/>
          <a:lstStyle/>
          <a:p>
            <a:pPr marL="0" indent="0">
              <a:buNone/>
            </a:pPr>
            <a:r>
              <a:rPr lang="en-US" sz="1400" dirty="0">
                <a:solidFill>
                  <a:srgbClr val="5B6B73"/>
                </a:solidFill>
                <a:latin typeface="Calibri" pitchFamily="34" charset="0"/>
                <a:ea typeface="Calibri" pitchFamily="34" charset="-122"/>
                <a:cs typeface="Calibri" pitchFamily="34" charset="-120"/>
              </a:rPr>
              <a:t>Price / unit</a:t>
            </a:r>
            <a:endParaRPr lang="en-US" sz="1400" dirty="0"/>
          </a:p>
        </p:txBody>
      </p:sp>
      <p:sp>
        <p:nvSpPr>
          <p:cNvPr id="10" name="Text 6"/>
          <p:cNvSpPr txBox="1"/>
          <p:nvPr/>
        </p:nvSpPr>
        <p:spPr>
          <a:xfrm>
            <a:off x="8229600" y="1554480"/>
            <a:ext cx="2286000" cy="566928"/>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R32.25 vs R36.78</a:t>
            </a:r>
            <a:endParaRPr lang="en-US" sz="1400" dirty="0"/>
          </a:p>
        </p:txBody>
      </p:sp>
      <p:sp>
        <p:nvSpPr>
          <p:cNvPr id="11" name="Text 7"/>
          <p:cNvSpPr txBox="1"/>
          <p:nvPr/>
        </p:nvSpPr>
        <p:spPr>
          <a:xfrm>
            <a:off x="10515600" y="1554480"/>
            <a:ext cx="1005840" cy="566928"/>
          </a:xfrm>
          <a:prstGeom prst="rect">
            <a:avLst/>
          </a:prstGeom>
          <a:noFill/>
          <a:ln/>
        </p:spPr>
        <p:txBody>
          <a:bodyPr wrap="square" lIns="0" tIns="0" rIns="0" bIns="0" rtlCol="0" anchor="ctr"/>
          <a:lstStyle/>
          <a:p>
            <a:pPr marL="0" indent="0" algn="r">
              <a:buNone/>
            </a:pPr>
            <a:r>
              <a:rPr lang="en-US" sz="1500" b="1" dirty="0">
                <a:solidFill>
                  <a:srgbClr val="009BA4"/>
                </a:solidFill>
                <a:latin typeface="Calibri" pitchFamily="34" charset="0"/>
                <a:ea typeface="Calibri" pitchFamily="34" charset="-122"/>
                <a:cs typeface="Calibri" pitchFamily="34" charset="-120"/>
              </a:rPr>
              <a:t>-12.3%</a:t>
            </a:r>
            <a:endParaRPr lang="en-US" sz="1500" dirty="0"/>
          </a:p>
        </p:txBody>
      </p:sp>
      <p:sp>
        <p:nvSpPr>
          <p:cNvPr id="12" name="Shape 8"/>
          <p:cNvSpPr/>
          <p:nvPr/>
        </p:nvSpPr>
        <p:spPr>
          <a:xfrm>
            <a:off x="6400800" y="2212848"/>
            <a:ext cx="5257800" cy="566928"/>
          </a:xfrm>
          <a:prstGeom prst="roundRect">
            <a:avLst>
              <a:gd name="adj" fmla="val 1612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3" name="Text 9"/>
          <p:cNvSpPr txBox="1"/>
          <p:nvPr/>
        </p:nvSpPr>
        <p:spPr>
          <a:xfrm>
            <a:off x="6583680" y="2212848"/>
            <a:ext cx="1645920" cy="566928"/>
          </a:xfrm>
          <a:prstGeom prst="rect">
            <a:avLst/>
          </a:prstGeom>
          <a:noFill/>
          <a:ln/>
        </p:spPr>
        <p:txBody>
          <a:bodyPr wrap="square" lIns="0" tIns="0" rIns="0" bIns="0" rtlCol="0" anchor="ctr"/>
          <a:lstStyle/>
          <a:p>
            <a:pPr marL="0" indent="0">
              <a:buNone/>
            </a:pPr>
            <a:r>
              <a:rPr lang="en-US" sz="1400" dirty="0">
                <a:solidFill>
                  <a:srgbClr val="5B6B73"/>
                </a:solidFill>
                <a:latin typeface="Calibri" pitchFamily="34" charset="0"/>
                <a:ea typeface="Calibri" pitchFamily="34" charset="-122"/>
                <a:cs typeface="Calibri" pitchFamily="34" charset="-120"/>
              </a:rPr>
              <a:t>Units / day</a:t>
            </a:r>
            <a:endParaRPr lang="en-US" sz="1400" dirty="0"/>
          </a:p>
        </p:txBody>
      </p:sp>
      <p:sp>
        <p:nvSpPr>
          <p:cNvPr id="14" name="Text 10"/>
          <p:cNvSpPr txBox="1"/>
          <p:nvPr/>
        </p:nvSpPr>
        <p:spPr>
          <a:xfrm>
            <a:off x="8229600" y="2212848"/>
            <a:ext cx="2286000" cy="566928"/>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9,611 vs 4,148</a:t>
            </a:r>
            <a:endParaRPr lang="en-US" sz="1400" dirty="0"/>
          </a:p>
        </p:txBody>
      </p:sp>
      <p:sp>
        <p:nvSpPr>
          <p:cNvPr id="15" name="Text 11"/>
          <p:cNvSpPr txBox="1"/>
          <p:nvPr/>
        </p:nvSpPr>
        <p:spPr>
          <a:xfrm>
            <a:off x="10515600" y="2212848"/>
            <a:ext cx="1005840" cy="566928"/>
          </a:xfrm>
          <a:prstGeom prst="rect">
            <a:avLst/>
          </a:prstGeom>
          <a:noFill/>
          <a:ln/>
        </p:spPr>
        <p:txBody>
          <a:bodyPr wrap="square" lIns="0" tIns="0" rIns="0" bIns="0" rtlCol="0" anchor="ctr"/>
          <a:lstStyle/>
          <a:p>
            <a:pPr marL="0" indent="0" algn="r">
              <a:buNone/>
            </a:pPr>
            <a:r>
              <a:rPr lang="en-US" sz="1500" b="1" dirty="0">
                <a:solidFill>
                  <a:srgbClr val="009BA4"/>
                </a:solidFill>
                <a:latin typeface="Calibri" pitchFamily="34" charset="0"/>
                <a:ea typeface="Calibri" pitchFamily="34" charset="-122"/>
                <a:cs typeface="Calibri" pitchFamily="34" charset="-120"/>
              </a:rPr>
              <a:t>+132%</a:t>
            </a:r>
            <a:endParaRPr lang="en-US" sz="1500" dirty="0"/>
          </a:p>
        </p:txBody>
      </p:sp>
      <p:sp>
        <p:nvSpPr>
          <p:cNvPr id="16" name="Shape 12"/>
          <p:cNvSpPr/>
          <p:nvPr/>
        </p:nvSpPr>
        <p:spPr>
          <a:xfrm>
            <a:off x="6400800" y="2871216"/>
            <a:ext cx="5257800" cy="566928"/>
          </a:xfrm>
          <a:prstGeom prst="roundRect">
            <a:avLst>
              <a:gd name="adj" fmla="val 1612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Text 13"/>
          <p:cNvSpPr txBox="1"/>
          <p:nvPr/>
        </p:nvSpPr>
        <p:spPr>
          <a:xfrm>
            <a:off x="6583680" y="2871216"/>
            <a:ext cx="1645920" cy="566928"/>
          </a:xfrm>
          <a:prstGeom prst="rect">
            <a:avLst/>
          </a:prstGeom>
          <a:noFill/>
          <a:ln/>
        </p:spPr>
        <p:txBody>
          <a:bodyPr wrap="square" lIns="0" tIns="0" rIns="0" bIns="0" rtlCol="0" anchor="ctr"/>
          <a:lstStyle/>
          <a:p>
            <a:pPr marL="0" indent="0">
              <a:buNone/>
            </a:pPr>
            <a:r>
              <a:rPr lang="en-US" sz="1400" dirty="0">
                <a:solidFill>
                  <a:srgbClr val="5B6B73"/>
                </a:solidFill>
                <a:latin typeface="Calibri" pitchFamily="34" charset="0"/>
                <a:ea typeface="Calibri" pitchFamily="34" charset="-122"/>
                <a:cs typeface="Calibri" pitchFamily="34" charset="-120"/>
              </a:rPr>
              <a:t>Sales / day</a:t>
            </a:r>
            <a:endParaRPr lang="en-US" sz="1400" dirty="0"/>
          </a:p>
        </p:txBody>
      </p:sp>
      <p:sp>
        <p:nvSpPr>
          <p:cNvPr id="18" name="Text 14"/>
          <p:cNvSpPr txBox="1"/>
          <p:nvPr/>
        </p:nvSpPr>
        <p:spPr>
          <a:xfrm>
            <a:off x="8229600" y="2871216"/>
            <a:ext cx="2286000" cy="566928"/>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R309.9K vs R152.5K</a:t>
            </a:r>
            <a:endParaRPr lang="en-US" sz="1400" dirty="0"/>
          </a:p>
        </p:txBody>
      </p:sp>
      <p:sp>
        <p:nvSpPr>
          <p:cNvPr id="19" name="Text 15"/>
          <p:cNvSpPr txBox="1"/>
          <p:nvPr/>
        </p:nvSpPr>
        <p:spPr>
          <a:xfrm>
            <a:off x="10515600" y="2871216"/>
            <a:ext cx="1005840" cy="566928"/>
          </a:xfrm>
          <a:prstGeom prst="rect">
            <a:avLst/>
          </a:prstGeom>
          <a:noFill/>
          <a:ln/>
        </p:spPr>
        <p:txBody>
          <a:bodyPr wrap="square" lIns="0" tIns="0" rIns="0" bIns="0" rtlCol="0" anchor="ctr"/>
          <a:lstStyle/>
          <a:p>
            <a:pPr marL="0" indent="0" algn="r">
              <a:buNone/>
            </a:pPr>
            <a:r>
              <a:rPr lang="en-US" sz="1500" b="1" dirty="0">
                <a:solidFill>
                  <a:srgbClr val="009BA4"/>
                </a:solidFill>
                <a:latin typeface="Calibri" pitchFamily="34" charset="0"/>
                <a:ea typeface="Calibri" pitchFamily="34" charset="-122"/>
                <a:cs typeface="Calibri" pitchFamily="34" charset="-120"/>
              </a:rPr>
              <a:t>+103%</a:t>
            </a:r>
            <a:endParaRPr lang="en-US" sz="1500" dirty="0"/>
          </a:p>
        </p:txBody>
      </p:sp>
      <p:sp>
        <p:nvSpPr>
          <p:cNvPr id="20" name="Shape 16"/>
          <p:cNvSpPr/>
          <p:nvPr/>
        </p:nvSpPr>
        <p:spPr>
          <a:xfrm>
            <a:off x="6400800" y="3529584"/>
            <a:ext cx="5257800" cy="566928"/>
          </a:xfrm>
          <a:prstGeom prst="roundRect">
            <a:avLst>
              <a:gd name="adj" fmla="val 16129"/>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1" name="Text 17"/>
          <p:cNvSpPr txBox="1"/>
          <p:nvPr/>
        </p:nvSpPr>
        <p:spPr>
          <a:xfrm>
            <a:off x="6583680" y="3529584"/>
            <a:ext cx="1645920" cy="566928"/>
          </a:xfrm>
          <a:prstGeom prst="rect">
            <a:avLst/>
          </a:prstGeom>
          <a:noFill/>
          <a:ln/>
        </p:spPr>
        <p:txBody>
          <a:bodyPr wrap="square" lIns="0" tIns="0" rIns="0" bIns="0" rtlCol="0" anchor="ctr"/>
          <a:lstStyle/>
          <a:p>
            <a:pPr marL="0" indent="0">
              <a:buNone/>
            </a:pPr>
            <a:r>
              <a:rPr lang="en-US" sz="1400" dirty="0">
                <a:solidFill>
                  <a:srgbClr val="5B6B73"/>
                </a:solidFill>
                <a:latin typeface="Calibri" pitchFamily="34" charset="0"/>
                <a:ea typeface="Calibri" pitchFamily="34" charset="-122"/>
                <a:cs typeface="Calibri" pitchFamily="34" charset="-120"/>
              </a:rPr>
              <a:t>Gross margin</a:t>
            </a:r>
            <a:endParaRPr lang="en-US" sz="1400" dirty="0"/>
          </a:p>
        </p:txBody>
      </p:sp>
      <p:sp>
        <p:nvSpPr>
          <p:cNvPr id="22" name="Text 18"/>
          <p:cNvSpPr txBox="1"/>
          <p:nvPr/>
        </p:nvSpPr>
        <p:spPr>
          <a:xfrm>
            <a:off x="8229600" y="3529584"/>
            <a:ext cx="2286000" cy="566928"/>
          </a:xfrm>
          <a:prstGeom prst="rect">
            <a:avLst/>
          </a:prstGeom>
          <a:noFill/>
          <a:ln/>
        </p:spPr>
        <p:txBody>
          <a:bodyPr wrap="square" lIns="0" tIns="0" rIns="0" bIns="0" rtlCol="0" anchor="ctr"/>
          <a:lstStyle/>
          <a:p>
            <a:pPr marL="0" indent="0">
              <a:buNone/>
            </a:pPr>
            <a:r>
              <a:rPr lang="en-US" sz="1400" b="1" dirty="0">
                <a:solidFill>
                  <a:srgbClr val="0B3C49"/>
                </a:solidFill>
                <a:latin typeface="Calibri" pitchFamily="34" charset="0"/>
                <a:ea typeface="Calibri" pitchFamily="34" charset="-122"/>
                <a:cs typeface="Calibri" pitchFamily="34" charset="-120"/>
              </a:rPr>
              <a:t>-5.1% vs -3.3%</a:t>
            </a:r>
            <a:endParaRPr lang="en-US" sz="1400" dirty="0"/>
          </a:p>
        </p:txBody>
      </p:sp>
      <p:sp>
        <p:nvSpPr>
          <p:cNvPr id="23" name="Text 19"/>
          <p:cNvSpPr txBox="1"/>
          <p:nvPr/>
        </p:nvSpPr>
        <p:spPr>
          <a:xfrm>
            <a:off x="10515600" y="3529584"/>
            <a:ext cx="1005840" cy="566928"/>
          </a:xfrm>
          <a:prstGeom prst="rect">
            <a:avLst/>
          </a:prstGeom>
          <a:noFill/>
          <a:ln/>
        </p:spPr>
        <p:txBody>
          <a:bodyPr wrap="square" lIns="0" tIns="0" rIns="0" bIns="0" rtlCol="0" anchor="ctr"/>
          <a:lstStyle/>
          <a:p>
            <a:pPr marL="0" indent="0" algn="r">
              <a:buNone/>
            </a:pPr>
            <a:r>
              <a:rPr lang="en-US" sz="1500" b="1" dirty="0">
                <a:solidFill>
                  <a:srgbClr val="D64545"/>
                </a:solidFill>
                <a:latin typeface="Calibri" pitchFamily="34" charset="0"/>
                <a:ea typeface="Calibri" pitchFamily="34" charset="-122"/>
                <a:cs typeface="Calibri" pitchFamily="34" charset="-120"/>
              </a:rPr>
              <a:t>worse</a:t>
            </a:r>
            <a:endParaRPr lang="en-US" sz="1500" dirty="0"/>
          </a:p>
        </p:txBody>
      </p:sp>
      <p:sp>
        <p:nvSpPr>
          <p:cNvPr id="24" name="Text 20"/>
          <p:cNvSpPr txBox="1"/>
          <p:nvPr/>
        </p:nvSpPr>
        <p:spPr>
          <a:xfrm>
            <a:off x="6400800" y="4251960"/>
            <a:ext cx="5257800" cy="457200"/>
          </a:xfrm>
          <a:prstGeom prst="rect">
            <a:avLst/>
          </a:prstGeom>
          <a:noFill/>
          <a:ln/>
        </p:spPr>
        <p:txBody>
          <a:bodyPr wrap="square" lIns="0" tIns="0" rIns="0" bIns="0" rtlCol="0" anchor="ctr"/>
          <a:lstStyle/>
          <a:p>
            <a:pPr marL="0" indent="0">
              <a:buNone/>
            </a:pPr>
            <a:r>
              <a:rPr lang="en-US" sz="1200" b="1" dirty="0">
                <a:solidFill>
                  <a:srgbClr val="0B3C49"/>
                </a:solidFill>
                <a:latin typeface="Calibri" pitchFamily="34" charset="0"/>
                <a:ea typeface="Calibri" pitchFamily="34" charset="-122"/>
                <a:cs typeface="Calibri" pitchFamily="34" charset="-120"/>
              </a:rPr>
              <a:t>Price elasticity: P1 -4.12 | P2 -2.75 | P3 -8.55 | P4 -7.16</a:t>
            </a:r>
            <a:endParaRPr lang="en-US" sz="1200" dirty="0"/>
          </a:p>
        </p:txBody>
      </p:sp>
      <p:sp>
        <p:nvSpPr>
          <p:cNvPr id="25" name="Shape 21"/>
          <p:cNvSpPr/>
          <p:nvPr/>
        </p:nvSpPr>
        <p:spPr>
          <a:xfrm>
            <a:off x="548640" y="4892040"/>
            <a:ext cx="11109960" cy="1371600"/>
          </a:xfrm>
          <a:prstGeom prst="roundRect">
            <a:avLst>
              <a:gd name="adj" fmla="val 6667"/>
            </a:avLst>
          </a:prstGeom>
          <a:solidFill>
            <a:srgbClr val="E1F3F4"/>
          </a:solidFill>
          <a:ln w="12700">
            <a:solidFill>
              <a:srgbClr val="E1F3F4"/>
            </a:solidFill>
            <a:prstDash val="solid"/>
          </a:ln>
        </p:spPr>
      </p:sp>
      <p:sp>
        <p:nvSpPr>
          <p:cNvPr id="26" name="Text 22"/>
          <p:cNvSpPr txBox="1"/>
          <p:nvPr/>
        </p:nvSpPr>
        <p:spPr>
          <a:xfrm>
            <a:off x="777240" y="5029200"/>
            <a:ext cx="10652760" cy="274320"/>
          </a:xfrm>
          <a:prstGeom prst="rect">
            <a:avLst/>
          </a:prstGeom>
          <a:noFill/>
          <a:ln/>
        </p:spPr>
        <p:txBody>
          <a:bodyPr wrap="square" lIns="0" tIns="0" rIns="0" bIns="0" rtlCol="0" anchor="ctr"/>
          <a:lstStyle/>
          <a:p>
            <a:pPr marL="0" indent="0">
              <a:buNone/>
            </a:pPr>
            <a:r>
              <a:rPr lang="en-US" sz="1100" b="1" kern="0" spc="200" dirty="0">
                <a:solidFill>
                  <a:srgbClr val="F26B21"/>
                </a:solidFill>
                <a:latin typeface="Calibri" pitchFamily="34" charset="0"/>
                <a:ea typeface="Calibri" pitchFamily="34" charset="-122"/>
                <a:cs typeface="Calibri" pitchFamily="34" charset="-120"/>
              </a:rPr>
              <a:t>KEY INSIGHT</a:t>
            </a:r>
            <a:endParaRPr lang="en-US" sz="1100" dirty="0"/>
          </a:p>
        </p:txBody>
      </p:sp>
      <p:sp>
        <p:nvSpPr>
          <p:cNvPr id="27" name="Text 23"/>
          <p:cNvSpPr txBox="1"/>
          <p:nvPr/>
        </p:nvSpPr>
        <p:spPr>
          <a:xfrm>
            <a:off x="777240" y="5349240"/>
            <a:ext cx="10652760" cy="777240"/>
          </a:xfrm>
          <a:prstGeom prst="rect">
            <a:avLst/>
          </a:prstGeom>
          <a:noFill/>
          <a:ln/>
        </p:spPr>
        <p:txBody>
          <a:bodyPr wrap="square" lIns="0" tIns="0" rIns="0" bIns="0" rtlCol="0" anchor="t"/>
          <a:lstStyle/>
          <a:p>
            <a:pPr marL="0" indent="0">
              <a:buNone/>
            </a:pPr>
            <a:r>
              <a:rPr lang="en-US" sz="1400" dirty="0">
                <a:solidFill>
                  <a:srgbClr val="0B3C49"/>
                </a:solidFill>
                <a:latin typeface="Calibri" pitchFamily="34" charset="0"/>
                <a:ea typeface="Calibri" pitchFamily="34" charset="-122"/>
                <a:cs typeface="Calibri" pitchFamily="34" charset="-120"/>
              </a:rPr>
              <a:t>Discounting works for volume (+132% units, +103% sales per day) but not for profit: promotion days lose R15.7K a day vs R5.1K on normal days. Customer, region and branch data are not in this dataset, so those cuts are not reported.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Key Insights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548640" y="1188720"/>
            <a:ext cx="5440680" cy="1508760"/>
          </a:xfrm>
          <a:prstGeom prst="roundRect">
            <a:avLst>
              <a:gd name="adj" fmla="val 606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7" name="Shape 4"/>
          <p:cNvSpPr/>
          <p:nvPr/>
        </p:nvSpPr>
        <p:spPr>
          <a:xfrm>
            <a:off x="777240" y="1463040"/>
            <a:ext cx="640080" cy="640080"/>
          </a:xfrm>
          <a:prstGeom prst="ellipse">
            <a:avLst/>
          </a:prstGeom>
          <a:solidFill>
            <a:srgbClr val="F26B21"/>
          </a:solidFill>
          <a:ln w="12700">
            <a:solidFill>
              <a:srgbClr val="FFFFFF"/>
            </a:solidFill>
            <a:prstDash val="solid"/>
          </a:ln>
        </p:spPr>
      </p:sp>
      <p:sp>
        <p:nvSpPr>
          <p:cNvPr id="8" name="Text 5"/>
          <p:cNvSpPr txBox="1"/>
          <p:nvPr/>
        </p:nvSpPr>
        <p:spPr>
          <a:xfrm>
            <a:off x="777240" y="14630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txBox="1"/>
          <p:nvPr/>
        </p:nvSpPr>
        <p:spPr>
          <a:xfrm>
            <a:off x="1600200" y="1325880"/>
            <a:ext cx="4206240" cy="41148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Sales are high, profit is negative</a:t>
            </a:r>
            <a:endParaRPr lang="en-US" sz="1600" dirty="0"/>
          </a:p>
        </p:txBody>
      </p:sp>
      <p:sp>
        <p:nvSpPr>
          <p:cNvPr id="10" name="Text 7"/>
          <p:cNvSpPr txBox="1"/>
          <p:nvPr/>
        </p:nvSpPr>
        <p:spPr>
          <a:xfrm>
            <a:off x="1600200" y="1783080"/>
            <a:ext cx="420624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R186.9M sales vs R194.0M cost gives a R7.1M gross loss; 607 of 1,053 days (58%) lost money.</a:t>
            </a:r>
            <a:endParaRPr lang="en-US" sz="1300" dirty="0"/>
          </a:p>
        </p:txBody>
      </p:sp>
      <p:sp>
        <p:nvSpPr>
          <p:cNvPr id="11" name="Shape 8"/>
          <p:cNvSpPr/>
          <p:nvPr/>
        </p:nvSpPr>
        <p:spPr>
          <a:xfrm>
            <a:off x="6172200" y="1188720"/>
            <a:ext cx="5440680" cy="1508760"/>
          </a:xfrm>
          <a:prstGeom prst="roundRect">
            <a:avLst>
              <a:gd name="adj" fmla="val 606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2" name="Shape 9"/>
          <p:cNvSpPr/>
          <p:nvPr/>
        </p:nvSpPr>
        <p:spPr>
          <a:xfrm>
            <a:off x="6400800" y="1463040"/>
            <a:ext cx="640080" cy="640080"/>
          </a:xfrm>
          <a:prstGeom prst="ellipse">
            <a:avLst/>
          </a:prstGeom>
          <a:solidFill>
            <a:srgbClr val="009BA4"/>
          </a:solidFill>
          <a:ln w="12700">
            <a:solidFill>
              <a:srgbClr val="FFFFFF"/>
            </a:solidFill>
            <a:prstDash val="solid"/>
          </a:ln>
        </p:spPr>
      </p:sp>
      <p:sp>
        <p:nvSpPr>
          <p:cNvPr id="13" name="Text 10"/>
          <p:cNvSpPr txBox="1"/>
          <p:nvPr/>
        </p:nvSpPr>
        <p:spPr>
          <a:xfrm>
            <a:off x="6400800" y="146304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1"/>
          <p:cNvSpPr txBox="1"/>
          <p:nvPr/>
        </p:nvSpPr>
        <p:spPr>
          <a:xfrm>
            <a:off x="7223760" y="1325880"/>
            <a:ext cx="4206240" cy="41148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Cost per unit exceeds price</a:t>
            </a:r>
            <a:endParaRPr lang="en-US" sz="1600" dirty="0"/>
          </a:p>
        </p:txBody>
      </p:sp>
      <p:sp>
        <p:nvSpPr>
          <p:cNvPr id="15" name="Text 12"/>
          <p:cNvSpPr txBox="1"/>
          <p:nvPr/>
        </p:nvSpPr>
        <p:spPr>
          <a:xfrm>
            <a:off x="7223760" y="1783080"/>
            <a:ext cx="420624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Average cost R36.75 vs average price R35.40: a R1.35 gap on every unit.</a:t>
            </a:r>
            <a:endParaRPr lang="en-US" sz="1300" dirty="0"/>
          </a:p>
        </p:txBody>
      </p:sp>
      <p:sp>
        <p:nvSpPr>
          <p:cNvPr id="16" name="Shape 13"/>
          <p:cNvSpPr/>
          <p:nvPr/>
        </p:nvSpPr>
        <p:spPr>
          <a:xfrm>
            <a:off x="548640" y="2880360"/>
            <a:ext cx="5440680" cy="1508760"/>
          </a:xfrm>
          <a:prstGeom prst="roundRect">
            <a:avLst>
              <a:gd name="adj" fmla="val 606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7" name="Shape 14"/>
          <p:cNvSpPr/>
          <p:nvPr/>
        </p:nvSpPr>
        <p:spPr>
          <a:xfrm>
            <a:off x="777240" y="3154680"/>
            <a:ext cx="640080" cy="640080"/>
          </a:xfrm>
          <a:prstGeom prst="ellipse">
            <a:avLst/>
          </a:prstGeom>
          <a:solidFill>
            <a:srgbClr val="009BA4"/>
          </a:solidFill>
          <a:ln w="12700">
            <a:solidFill>
              <a:srgbClr val="FFFFFF"/>
            </a:solidFill>
            <a:prstDash val="solid"/>
          </a:ln>
        </p:spPr>
      </p:sp>
      <p:sp>
        <p:nvSpPr>
          <p:cNvPr id="18" name="Text 15"/>
          <p:cNvSpPr txBox="1"/>
          <p:nvPr/>
        </p:nvSpPr>
        <p:spPr>
          <a:xfrm>
            <a:off x="777240" y="31546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6"/>
          <p:cNvSpPr txBox="1"/>
          <p:nvPr/>
        </p:nvSpPr>
        <p:spPr>
          <a:xfrm>
            <a:off x="1600200" y="3017520"/>
            <a:ext cx="4206240" cy="41148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Promotions amplify losses</a:t>
            </a:r>
            <a:endParaRPr lang="en-US" sz="1600" dirty="0"/>
          </a:p>
        </p:txBody>
      </p:sp>
      <p:sp>
        <p:nvSpPr>
          <p:cNvPr id="20" name="Text 17"/>
          <p:cNvSpPr txBox="1"/>
          <p:nvPr/>
        </p:nvSpPr>
        <p:spPr>
          <a:xfrm>
            <a:off x="1600200" y="3474720"/>
            <a:ext cx="420624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16% of days, 28% of sales, but 37% of the total gross loss (R2.6M).</a:t>
            </a:r>
            <a:endParaRPr lang="en-US" sz="1300" dirty="0"/>
          </a:p>
        </p:txBody>
      </p:sp>
      <p:sp>
        <p:nvSpPr>
          <p:cNvPr id="21" name="Shape 18"/>
          <p:cNvSpPr/>
          <p:nvPr/>
        </p:nvSpPr>
        <p:spPr>
          <a:xfrm>
            <a:off x="6172200" y="2880360"/>
            <a:ext cx="5440680" cy="1508760"/>
          </a:xfrm>
          <a:prstGeom prst="roundRect">
            <a:avLst>
              <a:gd name="adj" fmla="val 606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2" name="Shape 19"/>
          <p:cNvSpPr/>
          <p:nvPr/>
        </p:nvSpPr>
        <p:spPr>
          <a:xfrm>
            <a:off x="6400800" y="3154680"/>
            <a:ext cx="640080" cy="640080"/>
          </a:xfrm>
          <a:prstGeom prst="ellipse">
            <a:avLst/>
          </a:prstGeom>
          <a:solidFill>
            <a:srgbClr val="009BA4"/>
          </a:solidFill>
          <a:ln w="12700">
            <a:solidFill>
              <a:srgbClr val="FFFFFF"/>
            </a:solidFill>
            <a:prstDash val="solid"/>
          </a:ln>
        </p:spPr>
      </p:sp>
      <p:sp>
        <p:nvSpPr>
          <p:cNvPr id="23" name="Text 20"/>
          <p:cNvSpPr txBox="1"/>
          <p:nvPr/>
        </p:nvSpPr>
        <p:spPr>
          <a:xfrm>
            <a:off x="6400800" y="315468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4" name="Text 21"/>
          <p:cNvSpPr txBox="1"/>
          <p:nvPr/>
        </p:nvSpPr>
        <p:spPr>
          <a:xfrm>
            <a:off x="7223760" y="3017520"/>
            <a:ext cx="4206240" cy="41148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Daily sales are shrinking</a:t>
            </a:r>
            <a:endParaRPr lang="en-US" sz="1600" dirty="0"/>
          </a:p>
        </p:txBody>
      </p:sp>
      <p:sp>
        <p:nvSpPr>
          <p:cNvPr id="25" name="Text 22"/>
          <p:cNvSpPr txBox="1"/>
          <p:nvPr/>
        </p:nvSpPr>
        <p:spPr>
          <a:xfrm>
            <a:off x="7223760" y="3474720"/>
            <a:ext cx="420624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R206.6K (2014) → R175.4K (2015) → R146.3K (2016): -29%.</a:t>
            </a:r>
            <a:endParaRPr lang="en-US" sz="1300" dirty="0"/>
          </a:p>
        </p:txBody>
      </p:sp>
      <p:sp>
        <p:nvSpPr>
          <p:cNvPr id="26" name="Shape 23"/>
          <p:cNvSpPr/>
          <p:nvPr/>
        </p:nvSpPr>
        <p:spPr>
          <a:xfrm>
            <a:off x="548640" y="4572000"/>
            <a:ext cx="5440680" cy="1508760"/>
          </a:xfrm>
          <a:prstGeom prst="roundRect">
            <a:avLst>
              <a:gd name="adj" fmla="val 606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7" name="Shape 24"/>
          <p:cNvSpPr/>
          <p:nvPr/>
        </p:nvSpPr>
        <p:spPr>
          <a:xfrm>
            <a:off x="777240" y="4846320"/>
            <a:ext cx="640080" cy="640080"/>
          </a:xfrm>
          <a:prstGeom prst="ellipse">
            <a:avLst/>
          </a:prstGeom>
          <a:solidFill>
            <a:srgbClr val="009BA4"/>
          </a:solidFill>
          <a:ln w="12700">
            <a:solidFill>
              <a:srgbClr val="FFFFFF"/>
            </a:solidFill>
            <a:prstDash val="solid"/>
          </a:ln>
        </p:spPr>
      </p:sp>
      <p:sp>
        <p:nvSpPr>
          <p:cNvPr id="28" name="Text 25"/>
          <p:cNvSpPr txBox="1"/>
          <p:nvPr/>
        </p:nvSpPr>
        <p:spPr>
          <a:xfrm>
            <a:off x="777240" y="48463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9" name="Text 26"/>
          <p:cNvSpPr txBox="1"/>
          <p:nvPr/>
        </p:nvSpPr>
        <p:spPr>
          <a:xfrm>
            <a:off x="1600200" y="4709160"/>
            <a:ext cx="4206240" cy="41148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Busy days lose the most</a:t>
            </a:r>
            <a:endParaRPr lang="en-US" sz="1600" dirty="0"/>
          </a:p>
        </p:txBody>
      </p:sp>
      <p:sp>
        <p:nvSpPr>
          <p:cNvPr id="30" name="Text 27"/>
          <p:cNvSpPr txBox="1"/>
          <p:nvPr/>
        </p:nvSpPr>
        <p:spPr>
          <a:xfrm>
            <a:off x="1600200" y="5166360"/>
            <a:ext cx="420624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Saturday averages a R12.0K loss a day, the largest of any weekday; Friday R9.5K.</a:t>
            </a:r>
            <a:endParaRPr lang="en-US" sz="1300" dirty="0"/>
          </a:p>
        </p:txBody>
      </p:sp>
      <p:sp>
        <p:nvSpPr>
          <p:cNvPr id="31" name="Shape 28"/>
          <p:cNvSpPr/>
          <p:nvPr/>
        </p:nvSpPr>
        <p:spPr>
          <a:xfrm>
            <a:off x="6172200" y="4572000"/>
            <a:ext cx="5440680" cy="1508760"/>
          </a:xfrm>
          <a:prstGeom prst="roundRect">
            <a:avLst>
              <a:gd name="adj" fmla="val 6061"/>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2" name="Shape 29"/>
          <p:cNvSpPr/>
          <p:nvPr/>
        </p:nvSpPr>
        <p:spPr>
          <a:xfrm>
            <a:off x="6400800" y="4846320"/>
            <a:ext cx="640080" cy="640080"/>
          </a:xfrm>
          <a:prstGeom prst="ellipse">
            <a:avLst/>
          </a:prstGeom>
          <a:solidFill>
            <a:srgbClr val="009BA4"/>
          </a:solidFill>
          <a:ln w="12700">
            <a:solidFill>
              <a:srgbClr val="FFFFFF"/>
            </a:solidFill>
            <a:prstDash val="solid"/>
          </a:ln>
        </p:spPr>
      </p:sp>
      <p:sp>
        <p:nvSpPr>
          <p:cNvPr id="33" name="Text 30"/>
          <p:cNvSpPr txBox="1"/>
          <p:nvPr/>
        </p:nvSpPr>
        <p:spPr>
          <a:xfrm>
            <a:off x="6400800" y="48463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4" name="Text 31"/>
          <p:cNvSpPr txBox="1"/>
          <p:nvPr/>
        </p:nvSpPr>
        <p:spPr>
          <a:xfrm>
            <a:off x="7223760" y="4709160"/>
            <a:ext cx="4206240" cy="411480"/>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Volume and profit move opposite</a:t>
            </a:r>
            <a:endParaRPr lang="en-US" sz="1600" dirty="0"/>
          </a:p>
        </p:txBody>
      </p:sp>
      <p:sp>
        <p:nvSpPr>
          <p:cNvPr id="35" name="Text 32"/>
          <p:cNvSpPr txBox="1"/>
          <p:nvPr/>
        </p:nvSpPr>
        <p:spPr>
          <a:xfrm>
            <a:off x="7223760" y="5166360"/>
            <a:ext cx="4206240" cy="822960"/>
          </a:xfrm>
          <a:prstGeom prst="rect">
            <a:avLst/>
          </a:prstGeom>
          <a:noFill/>
          <a:ln/>
        </p:spPr>
        <p:txBody>
          <a:bodyPr wrap="square" lIns="0" tIns="0" rIns="0" bIns="0" rtlCol="0" anchor="t"/>
          <a:lstStyle/>
          <a:p>
            <a:pPr marL="0" indent="0">
              <a:buNone/>
            </a:pPr>
            <a:r>
              <a:rPr lang="en-US" sz="1300" dirty="0">
                <a:solidFill>
                  <a:srgbClr val="5B6B73"/>
                </a:solidFill>
                <a:latin typeface="Calibri" pitchFamily="34" charset="0"/>
                <a:ea typeface="Calibri" pitchFamily="34" charset="-122"/>
                <a:cs typeface="Calibri" pitchFamily="34" charset="-120"/>
              </a:rPr>
              <a:t>Correlation of units sold vs daily gross profit is -0.80. 2016 margin (-2.0%) beat 2015 (-6.1%).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Business Recommendations</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17</a:t>
            </a:r>
            <a:endParaRPr lang="en-US" sz="1000" dirty="0"/>
          </a:p>
        </p:txBody>
      </p:sp>
      <p:sp>
        <p:nvSpPr>
          <p:cNvPr id="6" name="Shape 3"/>
          <p:cNvSpPr/>
          <p:nvPr/>
        </p:nvSpPr>
        <p:spPr>
          <a:xfrm>
            <a:off x="548640" y="1143000"/>
            <a:ext cx="11109960" cy="896112"/>
          </a:xfrm>
          <a:prstGeom prst="roundRect">
            <a:avLst>
              <a:gd name="adj" fmla="val 1020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7" name="Shape 4"/>
          <p:cNvSpPr/>
          <p:nvPr/>
        </p:nvSpPr>
        <p:spPr>
          <a:xfrm>
            <a:off x="777240" y="1289304"/>
            <a:ext cx="603504" cy="603504"/>
          </a:xfrm>
          <a:prstGeom prst="ellipse">
            <a:avLst/>
          </a:prstGeom>
          <a:solidFill>
            <a:srgbClr val="009BA4"/>
          </a:solidFill>
          <a:ln w="12700">
            <a:solidFill>
              <a:srgbClr val="009BA4"/>
            </a:solidFill>
            <a:prstDash val="solid"/>
          </a:ln>
        </p:spPr>
      </p:sp>
      <p:pic>
        <p:nvPicPr>
          <p:cNvPr id="8" name="Image 0" descr="preencoded.png"/>
          <p:cNvPicPr>
            <a:picLocks noChangeAspect="1"/>
          </p:cNvPicPr>
          <p:nvPr/>
        </p:nvPicPr>
        <p:blipFill>
          <a:blip r:embed="rId3"/>
          <a:stretch>
            <a:fillRect/>
          </a:stretch>
        </p:blipFill>
        <p:spPr>
          <a:xfrm>
            <a:off x="928116" y="1440180"/>
            <a:ext cx="301752" cy="301752"/>
          </a:xfrm>
          <a:prstGeom prst="rect">
            <a:avLst/>
          </a:prstGeom>
        </p:spPr>
      </p:pic>
      <p:sp>
        <p:nvSpPr>
          <p:cNvPr id="9" name="Text 5"/>
          <p:cNvSpPr txBox="1"/>
          <p:nvPr/>
        </p:nvSpPr>
        <p:spPr>
          <a:xfrm>
            <a:off x="1645920" y="1216152"/>
            <a:ext cx="3291840" cy="749808"/>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Review pricing vs unit cost</a:t>
            </a:r>
            <a:endParaRPr lang="en-US" sz="1600" dirty="0"/>
          </a:p>
        </p:txBody>
      </p:sp>
      <p:sp>
        <p:nvSpPr>
          <p:cNvPr id="10" name="Text 6"/>
          <p:cNvSpPr txBox="1"/>
          <p:nvPr/>
        </p:nvSpPr>
        <p:spPr>
          <a:xfrm>
            <a:off x="5029200" y="1216152"/>
            <a:ext cx="5212080" cy="749808"/>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Average price R35.40 is below average cost R36.75. Test price or cost changes to close the R1.35 gap.</a:t>
            </a:r>
            <a:endParaRPr lang="en-US" sz="1300" dirty="0"/>
          </a:p>
        </p:txBody>
      </p:sp>
      <p:sp>
        <p:nvSpPr>
          <p:cNvPr id="11" name="Text 7"/>
          <p:cNvSpPr txBox="1"/>
          <p:nvPr/>
        </p:nvSpPr>
        <p:spPr>
          <a:xfrm>
            <a:off x="10287000" y="1216152"/>
            <a:ext cx="1234440" cy="749808"/>
          </a:xfrm>
          <a:prstGeom prst="rect">
            <a:avLst/>
          </a:prstGeom>
          <a:noFill/>
          <a:ln/>
        </p:spPr>
        <p:txBody>
          <a:bodyPr wrap="square" lIns="0" tIns="0" rIns="0" bIns="0" rtlCol="0" anchor="ctr"/>
          <a:lstStyle/>
          <a:p>
            <a:pPr marL="0" indent="0" algn="r">
              <a:buNone/>
            </a:pPr>
            <a:r>
              <a:rPr lang="en-US" sz="1100" b="1" dirty="0">
                <a:solidFill>
                  <a:srgbClr val="009BA4"/>
                </a:solidFill>
                <a:latin typeface="Calibri" pitchFamily="34" charset="0"/>
                <a:ea typeface="Calibri" pitchFamily="34" charset="-122"/>
                <a:cs typeface="Calibri" pitchFamily="34" charset="-120"/>
              </a:rPr>
              <a:t>Insights 1, 2</a:t>
            </a:r>
            <a:endParaRPr lang="en-US" sz="1100" dirty="0"/>
          </a:p>
        </p:txBody>
      </p:sp>
      <p:sp>
        <p:nvSpPr>
          <p:cNvPr id="12" name="Shape 8"/>
          <p:cNvSpPr/>
          <p:nvPr/>
        </p:nvSpPr>
        <p:spPr>
          <a:xfrm>
            <a:off x="548640" y="2148840"/>
            <a:ext cx="11109960" cy="896112"/>
          </a:xfrm>
          <a:prstGeom prst="roundRect">
            <a:avLst>
              <a:gd name="adj" fmla="val 1020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3" name="Shape 9"/>
          <p:cNvSpPr/>
          <p:nvPr/>
        </p:nvSpPr>
        <p:spPr>
          <a:xfrm>
            <a:off x="777240" y="2295144"/>
            <a:ext cx="603504" cy="603504"/>
          </a:xfrm>
          <a:prstGeom prst="ellipse">
            <a:avLst/>
          </a:prstGeom>
          <a:solidFill>
            <a:srgbClr val="F26B21"/>
          </a:solidFill>
          <a:ln w="12700">
            <a:solidFill>
              <a:srgbClr val="F26B21"/>
            </a:solidFill>
            <a:prstDash val="solid"/>
          </a:ln>
        </p:spPr>
      </p:sp>
      <p:pic>
        <p:nvPicPr>
          <p:cNvPr id="14" name="Image 1" descr="preencoded.png"/>
          <p:cNvPicPr>
            <a:picLocks noChangeAspect="1"/>
          </p:cNvPicPr>
          <p:nvPr/>
        </p:nvPicPr>
        <p:blipFill>
          <a:blip r:embed="rId4"/>
          <a:stretch>
            <a:fillRect/>
          </a:stretch>
        </p:blipFill>
        <p:spPr>
          <a:xfrm>
            <a:off x="928116" y="2446020"/>
            <a:ext cx="301752" cy="301752"/>
          </a:xfrm>
          <a:prstGeom prst="rect">
            <a:avLst/>
          </a:prstGeom>
        </p:spPr>
      </p:pic>
      <p:sp>
        <p:nvSpPr>
          <p:cNvPr id="15" name="Text 10"/>
          <p:cNvSpPr txBox="1"/>
          <p:nvPr/>
        </p:nvSpPr>
        <p:spPr>
          <a:xfrm>
            <a:off x="1645920" y="2221992"/>
            <a:ext cx="3291840" cy="749808"/>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Redesign promotions</a:t>
            </a:r>
            <a:endParaRPr lang="en-US" sz="1600" dirty="0"/>
          </a:p>
        </p:txBody>
      </p:sp>
      <p:sp>
        <p:nvSpPr>
          <p:cNvPr id="16" name="Text 11"/>
          <p:cNvSpPr txBox="1"/>
          <p:nvPr/>
        </p:nvSpPr>
        <p:spPr>
          <a:xfrm>
            <a:off x="5029200" y="2221992"/>
            <a:ext cx="5212080" cy="749808"/>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Set minimum margin rules. Period 3 (elasticity -8.55) lost R10.8K a day; promo days lose 3x more than normal days.</a:t>
            </a:r>
            <a:endParaRPr lang="en-US" sz="1300" dirty="0"/>
          </a:p>
        </p:txBody>
      </p:sp>
      <p:sp>
        <p:nvSpPr>
          <p:cNvPr id="17" name="Text 12"/>
          <p:cNvSpPr txBox="1"/>
          <p:nvPr/>
        </p:nvSpPr>
        <p:spPr>
          <a:xfrm>
            <a:off x="10287000" y="2221992"/>
            <a:ext cx="1234440" cy="749808"/>
          </a:xfrm>
          <a:prstGeom prst="rect">
            <a:avLst/>
          </a:prstGeom>
          <a:noFill/>
          <a:ln/>
        </p:spPr>
        <p:txBody>
          <a:bodyPr wrap="square" lIns="0" tIns="0" rIns="0" bIns="0" rtlCol="0" anchor="ctr"/>
          <a:lstStyle/>
          <a:p>
            <a:pPr marL="0" indent="0" algn="r">
              <a:buNone/>
            </a:pPr>
            <a:r>
              <a:rPr lang="en-US" sz="1100" b="1" dirty="0">
                <a:solidFill>
                  <a:srgbClr val="009BA4"/>
                </a:solidFill>
                <a:latin typeface="Calibri" pitchFamily="34" charset="0"/>
                <a:ea typeface="Calibri" pitchFamily="34" charset="-122"/>
                <a:cs typeface="Calibri" pitchFamily="34" charset="-120"/>
              </a:rPr>
              <a:t>Insight 3</a:t>
            </a:r>
            <a:endParaRPr lang="en-US" sz="1100" dirty="0"/>
          </a:p>
        </p:txBody>
      </p:sp>
      <p:sp>
        <p:nvSpPr>
          <p:cNvPr id="18" name="Shape 13"/>
          <p:cNvSpPr/>
          <p:nvPr/>
        </p:nvSpPr>
        <p:spPr>
          <a:xfrm>
            <a:off x="548640" y="3154680"/>
            <a:ext cx="11109960" cy="896112"/>
          </a:xfrm>
          <a:prstGeom prst="roundRect">
            <a:avLst>
              <a:gd name="adj" fmla="val 1020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9" name="Shape 14"/>
          <p:cNvSpPr/>
          <p:nvPr/>
        </p:nvSpPr>
        <p:spPr>
          <a:xfrm>
            <a:off x="777240" y="3300984"/>
            <a:ext cx="603504" cy="603504"/>
          </a:xfrm>
          <a:prstGeom prst="ellipse">
            <a:avLst/>
          </a:prstGeom>
          <a:solidFill>
            <a:srgbClr val="009BA4"/>
          </a:solidFill>
          <a:ln w="12700">
            <a:solidFill>
              <a:srgbClr val="009BA4"/>
            </a:solidFill>
            <a:prstDash val="solid"/>
          </a:ln>
        </p:spPr>
      </p:sp>
      <p:pic>
        <p:nvPicPr>
          <p:cNvPr id="20" name="Image 2" descr="preencoded.png"/>
          <p:cNvPicPr>
            <a:picLocks noChangeAspect="1"/>
          </p:cNvPicPr>
          <p:nvPr/>
        </p:nvPicPr>
        <p:blipFill>
          <a:blip r:embed="rId5"/>
          <a:stretch>
            <a:fillRect/>
          </a:stretch>
        </p:blipFill>
        <p:spPr>
          <a:xfrm>
            <a:off x="928116" y="3451860"/>
            <a:ext cx="301752" cy="301752"/>
          </a:xfrm>
          <a:prstGeom prst="rect">
            <a:avLst/>
          </a:prstGeom>
        </p:spPr>
      </p:pic>
      <p:sp>
        <p:nvSpPr>
          <p:cNvPr id="21" name="Text 15"/>
          <p:cNvSpPr txBox="1"/>
          <p:nvPr/>
        </p:nvSpPr>
        <p:spPr>
          <a:xfrm>
            <a:off x="1645920" y="3227832"/>
            <a:ext cx="3291840" cy="749808"/>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Protect Friday and Saturday margins</a:t>
            </a:r>
            <a:endParaRPr lang="en-US" sz="1600" dirty="0"/>
          </a:p>
        </p:txBody>
      </p:sp>
      <p:sp>
        <p:nvSpPr>
          <p:cNvPr id="22" name="Text 16"/>
          <p:cNvSpPr txBox="1"/>
          <p:nvPr/>
        </p:nvSpPr>
        <p:spPr>
          <a:xfrm>
            <a:off x="5029200" y="3227832"/>
            <a:ext cx="5212080" cy="749808"/>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42% of sales come from these two days, and Saturday has the largest average daily loss (R12.0K).</a:t>
            </a:r>
            <a:endParaRPr lang="en-US" sz="1300" dirty="0"/>
          </a:p>
        </p:txBody>
      </p:sp>
      <p:sp>
        <p:nvSpPr>
          <p:cNvPr id="23" name="Text 17"/>
          <p:cNvSpPr txBox="1"/>
          <p:nvPr/>
        </p:nvSpPr>
        <p:spPr>
          <a:xfrm>
            <a:off x="10287000" y="3227832"/>
            <a:ext cx="1234440" cy="749808"/>
          </a:xfrm>
          <a:prstGeom prst="rect">
            <a:avLst/>
          </a:prstGeom>
          <a:noFill/>
          <a:ln/>
        </p:spPr>
        <p:txBody>
          <a:bodyPr wrap="square" lIns="0" tIns="0" rIns="0" bIns="0" rtlCol="0" anchor="ctr"/>
          <a:lstStyle/>
          <a:p>
            <a:pPr marL="0" indent="0" algn="r">
              <a:buNone/>
            </a:pPr>
            <a:r>
              <a:rPr lang="en-US" sz="1100" b="1" dirty="0">
                <a:solidFill>
                  <a:srgbClr val="009BA4"/>
                </a:solidFill>
                <a:latin typeface="Calibri" pitchFamily="34" charset="0"/>
                <a:ea typeface="Calibri" pitchFamily="34" charset="-122"/>
                <a:cs typeface="Calibri" pitchFamily="34" charset="-120"/>
              </a:rPr>
              <a:t>Insight 5</a:t>
            </a:r>
            <a:endParaRPr lang="en-US" sz="1100" dirty="0"/>
          </a:p>
        </p:txBody>
      </p:sp>
      <p:sp>
        <p:nvSpPr>
          <p:cNvPr id="24" name="Shape 18"/>
          <p:cNvSpPr/>
          <p:nvPr/>
        </p:nvSpPr>
        <p:spPr>
          <a:xfrm>
            <a:off x="548640" y="4160520"/>
            <a:ext cx="11109960" cy="896112"/>
          </a:xfrm>
          <a:prstGeom prst="roundRect">
            <a:avLst>
              <a:gd name="adj" fmla="val 1020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5" name="Shape 19"/>
          <p:cNvSpPr/>
          <p:nvPr/>
        </p:nvSpPr>
        <p:spPr>
          <a:xfrm>
            <a:off x="777240" y="4306824"/>
            <a:ext cx="603504" cy="603504"/>
          </a:xfrm>
          <a:prstGeom prst="ellipse">
            <a:avLst/>
          </a:prstGeom>
          <a:solidFill>
            <a:srgbClr val="F26B21"/>
          </a:solidFill>
          <a:ln w="12700">
            <a:solidFill>
              <a:srgbClr val="F26B21"/>
            </a:solidFill>
            <a:prstDash val="solid"/>
          </a:ln>
        </p:spPr>
      </p:sp>
      <p:pic>
        <p:nvPicPr>
          <p:cNvPr id="26" name="Image 3" descr="preencoded.png"/>
          <p:cNvPicPr>
            <a:picLocks noChangeAspect="1"/>
          </p:cNvPicPr>
          <p:nvPr/>
        </p:nvPicPr>
        <p:blipFill>
          <a:blip r:embed="rId6"/>
          <a:stretch>
            <a:fillRect/>
          </a:stretch>
        </p:blipFill>
        <p:spPr>
          <a:xfrm>
            <a:off x="928116" y="4457700"/>
            <a:ext cx="301752" cy="301752"/>
          </a:xfrm>
          <a:prstGeom prst="rect">
            <a:avLst/>
          </a:prstGeom>
        </p:spPr>
      </p:pic>
      <p:sp>
        <p:nvSpPr>
          <p:cNvPr id="27" name="Text 20"/>
          <p:cNvSpPr txBox="1"/>
          <p:nvPr/>
        </p:nvSpPr>
        <p:spPr>
          <a:xfrm>
            <a:off x="1645920" y="4233672"/>
            <a:ext cx="3291840" cy="749808"/>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Learn from late 2016</a:t>
            </a:r>
            <a:endParaRPr lang="en-US" sz="1600" dirty="0"/>
          </a:p>
        </p:txBody>
      </p:sp>
      <p:sp>
        <p:nvSpPr>
          <p:cNvPr id="28" name="Text 21"/>
          <p:cNvSpPr txBox="1"/>
          <p:nvPr/>
        </p:nvSpPr>
        <p:spPr>
          <a:xfrm>
            <a:off x="5029200" y="4233672"/>
            <a:ext cx="5212080" cy="749808"/>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Oct 2016 (+R220K) and Nov 2016 (+R127K) were profitable on low volume. Find out what changed and whether it can be repeated.</a:t>
            </a:r>
            <a:endParaRPr lang="en-US" sz="1300" dirty="0"/>
          </a:p>
        </p:txBody>
      </p:sp>
      <p:sp>
        <p:nvSpPr>
          <p:cNvPr id="29" name="Text 22"/>
          <p:cNvSpPr txBox="1"/>
          <p:nvPr/>
        </p:nvSpPr>
        <p:spPr>
          <a:xfrm>
            <a:off x="10287000" y="4233672"/>
            <a:ext cx="1234440" cy="749808"/>
          </a:xfrm>
          <a:prstGeom prst="rect">
            <a:avLst/>
          </a:prstGeom>
          <a:noFill/>
          <a:ln/>
        </p:spPr>
        <p:txBody>
          <a:bodyPr wrap="square" lIns="0" tIns="0" rIns="0" bIns="0" rtlCol="0" anchor="ctr"/>
          <a:lstStyle/>
          <a:p>
            <a:pPr marL="0" indent="0" algn="r">
              <a:buNone/>
            </a:pPr>
            <a:r>
              <a:rPr lang="en-US" sz="1100" b="1" dirty="0">
                <a:solidFill>
                  <a:srgbClr val="009BA4"/>
                </a:solidFill>
                <a:latin typeface="Calibri" pitchFamily="34" charset="0"/>
                <a:ea typeface="Calibri" pitchFamily="34" charset="-122"/>
                <a:cs typeface="Calibri" pitchFamily="34" charset="-120"/>
              </a:rPr>
              <a:t>Insight 6</a:t>
            </a:r>
            <a:endParaRPr lang="en-US" sz="1100" dirty="0"/>
          </a:p>
        </p:txBody>
      </p:sp>
      <p:sp>
        <p:nvSpPr>
          <p:cNvPr id="30" name="Shape 23"/>
          <p:cNvSpPr/>
          <p:nvPr/>
        </p:nvSpPr>
        <p:spPr>
          <a:xfrm>
            <a:off x="548640" y="5166360"/>
            <a:ext cx="11109960" cy="896112"/>
          </a:xfrm>
          <a:prstGeom prst="roundRect">
            <a:avLst>
              <a:gd name="adj" fmla="val 1020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31" name="Shape 24"/>
          <p:cNvSpPr/>
          <p:nvPr/>
        </p:nvSpPr>
        <p:spPr>
          <a:xfrm>
            <a:off x="777240" y="5312664"/>
            <a:ext cx="603504" cy="603504"/>
          </a:xfrm>
          <a:prstGeom prst="ellipse">
            <a:avLst/>
          </a:prstGeom>
          <a:solidFill>
            <a:srgbClr val="009BA4"/>
          </a:solidFill>
          <a:ln w="12700">
            <a:solidFill>
              <a:srgbClr val="009BA4"/>
            </a:solidFill>
            <a:prstDash val="solid"/>
          </a:ln>
        </p:spPr>
      </p:sp>
      <p:pic>
        <p:nvPicPr>
          <p:cNvPr id="32" name="Image 4" descr="preencoded.png"/>
          <p:cNvPicPr>
            <a:picLocks noChangeAspect="1"/>
          </p:cNvPicPr>
          <p:nvPr/>
        </p:nvPicPr>
        <p:blipFill>
          <a:blip r:embed="rId7"/>
          <a:stretch>
            <a:fillRect/>
          </a:stretch>
        </p:blipFill>
        <p:spPr>
          <a:xfrm>
            <a:off x="928116" y="5463540"/>
            <a:ext cx="301752" cy="301752"/>
          </a:xfrm>
          <a:prstGeom prst="rect">
            <a:avLst/>
          </a:prstGeom>
        </p:spPr>
      </p:pic>
      <p:sp>
        <p:nvSpPr>
          <p:cNvPr id="33" name="Text 25"/>
          <p:cNvSpPr txBox="1"/>
          <p:nvPr/>
        </p:nvSpPr>
        <p:spPr>
          <a:xfrm>
            <a:off x="1645920" y="5239512"/>
            <a:ext cx="3291840" cy="749808"/>
          </a:xfrm>
          <a:prstGeom prst="rect">
            <a:avLst/>
          </a:prstGeom>
          <a:noFill/>
          <a:ln/>
        </p:spPr>
        <p:txBody>
          <a:bodyPr wrap="square" lIns="0" tIns="0" rIns="0" bIns="0" rtlCol="0" anchor="ctr"/>
          <a:lstStyle/>
          <a:p>
            <a:pPr marL="0" indent="0">
              <a:buNone/>
            </a:pPr>
            <a:r>
              <a:rPr lang="en-US" sz="1600" b="1" dirty="0">
                <a:solidFill>
                  <a:srgbClr val="0B3C49"/>
                </a:solidFill>
                <a:latin typeface="Cambria" pitchFamily="34" charset="0"/>
                <a:ea typeface="Cambria" pitchFamily="34" charset="-122"/>
                <a:cs typeface="Cambria" pitchFamily="34" charset="-120"/>
              </a:rPr>
              <a:t>Monitor daily margin</a:t>
            </a:r>
            <a:endParaRPr lang="en-US" sz="1600" dirty="0"/>
          </a:p>
        </p:txBody>
      </p:sp>
      <p:sp>
        <p:nvSpPr>
          <p:cNvPr id="34" name="Text 26"/>
          <p:cNvSpPr txBox="1"/>
          <p:nvPr/>
        </p:nvSpPr>
        <p:spPr>
          <a:xfrm>
            <a:off x="5029200" y="5239512"/>
            <a:ext cx="5212080" cy="749808"/>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Track daily gross margin and flag loss days early: 58% of days currently lose money.</a:t>
            </a:r>
            <a:endParaRPr lang="en-US" sz="1300" dirty="0"/>
          </a:p>
        </p:txBody>
      </p:sp>
      <p:sp>
        <p:nvSpPr>
          <p:cNvPr id="35" name="Text 27"/>
          <p:cNvSpPr txBox="1"/>
          <p:nvPr/>
        </p:nvSpPr>
        <p:spPr>
          <a:xfrm>
            <a:off x="10287000" y="5239512"/>
            <a:ext cx="1234440" cy="749808"/>
          </a:xfrm>
          <a:prstGeom prst="rect">
            <a:avLst/>
          </a:prstGeom>
          <a:noFill/>
          <a:ln/>
        </p:spPr>
        <p:txBody>
          <a:bodyPr wrap="square" lIns="0" tIns="0" rIns="0" bIns="0" rtlCol="0" anchor="ctr"/>
          <a:lstStyle/>
          <a:p>
            <a:pPr marL="0" indent="0" algn="r">
              <a:buNone/>
            </a:pPr>
            <a:r>
              <a:rPr lang="en-US" sz="1100" b="1" dirty="0">
                <a:solidFill>
                  <a:srgbClr val="009BA4"/>
                </a:solidFill>
                <a:latin typeface="Calibri" pitchFamily="34" charset="0"/>
                <a:ea typeface="Calibri" pitchFamily="34" charset="-122"/>
                <a:cs typeface="Calibri" pitchFamily="34" charset="-120"/>
              </a:rPr>
              <a:t>Insight 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2F7F8"/>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40080"/>
          </a:xfrm>
          <a:prstGeom prst="rect">
            <a:avLst/>
          </a:prstGeom>
          <a:noFill/>
          <a:ln/>
        </p:spPr>
        <p:txBody>
          <a:bodyPr wrap="square" lIns="0" tIns="0" rIns="0" bIns="0" rtlCol="0" anchor="ctr"/>
          <a:lstStyle/>
          <a:p>
            <a:pPr marL="0" indent="0">
              <a:buNone/>
            </a:pPr>
            <a:r>
              <a:rPr lang="en-US" sz="3000" b="1" dirty="0">
                <a:solidFill>
                  <a:srgbClr val="0B3C49"/>
                </a:solidFill>
                <a:latin typeface="Cambria" pitchFamily="34" charset="0"/>
                <a:ea typeface="Cambria" pitchFamily="34" charset="-122"/>
                <a:cs typeface="Cambria" pitchFamily="34" charset="-120"/>
              </a:rPr>
              <a:t>Dashboard Overview</a:t>
            </a:r>
            <a:endParaRPr lang="en-US" sz="3000" dirty="0"/>
          </a:p>
        </p:txBody>
      </p:sp>
      <p:sp>
        <p:nvSpPr>
          <p:cNvPr id="3" name="Text 1"/>
          <p:cNvSpPr txBox="1"/>
          <p:nvPr/>
        </p:nvSpPr>
        <p:spPr>
          <a:xfrm>
            <a:off x="548640" y="6446520"/>
            <a:ext cx="5486400" cy="274320"/>
          </a:xfrm>
          <a:prstGeom prst="rect">
            <a:avLst/>
          </a:prstGeom>
          <a:noFill/>
          <a:ln/>
        </p:spPr>
        <p:txBody>
          <a:bodyPr wrap="square" lIns="0" tIns="0" rIns="0" bIns="0" rtlCol="0" anchor="ctr"/>
          <a:lstStyle/>
          <a:p>
            <a:pPr marL="0" indent="0">
              <a:buNone/>
            </a:pPr>
            <a:r>
              <a:rPr lang="en-US" sz="1000" dirty="0">
                <a:solidFill>
                  <a:srgbClr val="5B6B73"/>
                </a:solidFill>
                <a:latin typeface="Calibri" pitchFamily="34" charset="0"/>
                <a:ea typeface="Calibri" pitchFamily="34" charset="-122"/>
                <a:cs typeface="Calibri" pitchFamily="34" charset="-120"/>
              </a:rPr>
              <a:t>FNB Sales Case Study  |  Katlego Mphahlele</a:t>
            </a:r>
            <a:endParaRPr lang="en-US" sz="1000" dirty="0"/>
          </a:p>
        </p:txBody>
      </p:sp>
      <p:sp>
        <p:nvSpPr>
          <p:cNvPr id="4" name="Text 2"/>
          <p:cNvSpPr txBox="1"/>
          <p:nvPr/>
        </p:nvSpPr>
        <p:spPr>
          <a:xfrm>
            <a:off x="11064240" y="6446520"/>
            <a:ext cx="54864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18</a:t>
            </a:r>
            <a:endParaRPr lang="en-US" sz="1000" dirty="0"/>
          </a:p>
        </p:txBody>
      </p:sp>
      <p:sp>
        <p:nvSpPr>
          <p:cNvPr id="6" name="Text 3"/>
          <p:cNvSpPr txBox="1"/>
          <p:nvPr/>
        </p:nvSpPr>
        <p:spPr>
          <a:xfrm>
            <a:off x="548640" y="914400"/>
            <a:ext cx="8229600" cy="274320"/>
          </a:xfrm>
          <a:prstGeom prst="rect">
            <a:avLst/>
          </a:prstGeom>
          <a:noFill/>
          <a:ln/>
        </p:spPr>
        <p:txBody>
          <a:bodyPr wrap="square" lIns="0" tIns="0" rIns="0" bIns="0" rtlCol="0" anchor="ctr"/>
          <a:lstStyle/>
          <a:p>
            <a:pPr marL="0" indent="0">
              <a:buNone/>
            </a:pPr>
            <a:r>
              <a:rPr lang="en-US" sz="1200" i="1" dirty="0">
                <a:solidFill>
                  <a:srgbClr val="5B6B73"/>
                </a:solidFill>
                <a:latin typeface="Calibri" pitchFamily="34" charset="0"/>
                <a:ea typeface="Calibri" pitchFamily="34" charset="-122"/>
                <a:cs typeface="Calibri" pitchFamily="34" charset="-120"/>
              </a:rPr>
              <a:t>Representation of dashboard layout, built from the dataset figures</a:t>
            </a:r>
            <a:endParaRPr lang="en-US" sz="1200" dirty="0"/>
          </a:p>
        </p:txBody>
      </p:sp>
      <p:sp>
        <p:nvSpPr>
          <p:cNvPr id="7" name="Shape 4"/>
          <p:cNvSpPr/>
          <p:nvPr/>
        </p:nvSpPr>
        <p:spPr>
          <a:xfrm>
            <a:off x="548640" y="1280160"/>
            <a:ext cx="8412480" cy="4937760"/>
          </a:xfrm>
          <a:prstGeom prst="roundRect">
            <a:avLst>
              <a:gd name="adj" fmla="val 1852"/>
            </a:avLst>
          </a:prstGeom>
          <a:solidFill>
            <a:srgbClr val="FFFFFF"/>
          </a:solidFill>
          <a:ln w="12700">
            <a:solidFill>
              <a:srgbClr val="DDE5E8"/>
            </a:solidFill>
            <a:prstDash val="solid"/>
          </a:ln>
          <a:effectLst>
            <a:outerShdw blurRad="101600" dist="25400" dir="5400000" algn="bl" rotWithShape="0">
              <a:srgbClr val="000000">
                <a:alpha val="12000"/>
              </a:srgbClr>
            </a:outerShdw>
          </a:effectLst>
        </p:spPr>
      </p:sp>
      <p:sp>
        <p:nvSpPr>
          <p:cNvPr id="8" name="Shape 5"/>
          <p:cNvSpPr/>
          <p:nvPr/>
        </p:nvSpPr>
        <p:spPr>
          <a:xfrm>
            <a:off x="777240" y="1463040"/>
            <a:ext cx="1874520" cy="868680"/>
          </a:xfrm>
          <a:prstGeom prst="roundRect">
            <a:avLst>
              <a:gd name="adj" fmla="val 8421"/>
            </a:avLst>
          </a:prstGeom>
          <a:solidFill>
            <a:srgbClr val="F2F7F8"/>
          </a:solidFill>
          <a:ln w="12700">
            <a:solidFill>
              <a:srgbClr val="F2F7F8"/>
            </a:solidFill>
            <a:prstDash val="solid"/>
          </a:ln>
        </p:spPr>
      </p:sp>
      <p:sp>
        <p:nvSpPr>
          <p:cNvPr id="9" name="Text 6"/>
          <p:cNvSpPr txBox="1"/>
          <p:nvPr/>
        </p:nvSpPr>
        <p:spPr>
          <a:xfrm>
            <a:off x="914400" y="1508760"/>
            <a:ext cx="16459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Sales</a:t>
            </a:r>
            <a:endParaRPr lang="en-US" sz="1100" dirty="0"/>
          </a:p>
        </p:txBody>
      </p:sp>
      <p:sp>
        <p:nvSpPr>
          <p:cNvPr id="10" name="Text 7"/>
          <p:cNvSpPr txBox="1"/>
          <p:nvPr/>
        </p:nvSpPr>
        <p:spPr>
          <a:xfrm>
            <a:off x="914400" y="1783080"/>
            <a:ext cx="1645920" cy="457200"/>
          </a:xfrm>
          <a:prstGeom prst="rect">
            <a:avLst/>
          </a:prstGeom>
          <a:noFill/>
          <a:ln/>
        </p:spPr>
        <p:txBody>
          <a:bodyPr wrap="square" lIns="0" tIns="0" rIns="0" bIns="0" rtlCol="0" anchor="ctr"/>
          <a:lstStyle/>
          <a:p>
            <a:pPr marL="0" indent="0">
              <a:buNone/>
            </a:pPr>
            <a:r>
              <a:rPr lang="en-US" sz="2000" b="1" dirty="0">
                <a:solidFill>
                  <a:srgbClr val="0B3C49"/>
                </a:solidFill>
                <a:latin typeface="Cambria" pitchFamily="34" charset="0"/>
                <a:ea typeface="Cambria" pitchFamily="34" charset="-122"/>
                <a:cs typeface="Cambria" pitchFamily="34" charset="-120"/>
              </a:rPr>
              <a:t>R186.9M</a:t>
            </a:r>
            <a:endParaRPr lang="en-US" sz="2000" dirty="0"/>
          </a:p>
        </p:txBody>
      </p:sp>
      <p:sp>
        <p:nvSpPr>
          <p:cNvPr id="11" name="Shape 8"/>
          <p:cNvSpPr/>
          <p:nvPr/>
        </p:nvSpPr>
        <p:spPr>
          <a:xfrm>
            <a:off x="2834640" y="1463040"/>
            <a:ext cx="1874520" cy="868680"/>
          </a:xfrm>
          <a:prstGeom prst="roundRect">
            <a:avLst>
              <a:gd name="adj" fmla="val 8421"/>
            </a:avLst>
          </a:prstGeom>
          <a:solidFill>
            <a:srgbClr val="F2F7F8"/>
          </a:solidFill>
          <a:ln w="12700">
            <a:solidFill>
              <a:srgbClr val="F2F7F8"/>
            </a:solidFill>
            <a:prstDash val="solid"/>
          </a:ln>
        </p:spPr>
      </p:sp>
      <p:sp>
        <p:nvSpPr>
          <p:cNvPr id="12" name="Text 9"/>
          <p:cNvSpPr txBox="1"/>
          <p:nvPr/>
        </p:nvSpPr>
        <p:spPr>
          <a:xfrm>
            <a:off x="2971800" y="1508760"/>
            <a:ext cx="16459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Cost</a:t>
            </a:r>
            <a:endParaRPr lang="en-US" sz="1100" dirty="0"/>
          </a:p>
        </p:txBody>
      </p:sp>
      <p:sp>
        <p:nvSpPr>
          <p:cNvPr id="13" name="Text 10"/>
          <p:cNvSpPr txBox="1"/>
          <p:nvPr/>
        </p:nvSpPr>
        <p:spPr>
          <a:xfrm>
            <a:off x="2971800" y="1783080"/>
            <a:ext cx="1645920" cy="457200"/>
          </a:xfrm>
          <a:prstGeom prst="rect">
            <a:avLst/>
          </a:prstGeom>
          <a:noFill/>
          <a:ln/>
        </p:spPr>
        <p:txBody>
          <a:bodyPr wrap="square" lIns="0" tIns="0" rIns="0" bIns="0" rtlCol="0" anchor="ctr"/>
          <a:lstStyle/>
          <a:p>
            <a:pPr marL="0" indent="0">
              <a:buNone/>
            </a:pPr>
            <a:r>
              <a:rPr lang="en-US" sz="2000" b="1" dirty="0">
                <a:solidFill>
                  <a:srgbClr val="0B3C49"/>
                </a:solidFill>
                <a:latin typeface="Cambria" pitchFamily="34" charset="0"/>
                <a:ea typeface="Cambria" pitchFamily="34" charset="-122"/>
                <a:cs typeface="Cambria" pitchFamily="34" charset="-120"/>
              </a:rPr>
              <a:t>R194.0M</a:t>
            </a:r>
            <a:endParaRPr lang="en-US" sz="2000" dirty="0"/>
          </a:p>
        </p:txBody>
      </p:sp>
      <p:sp>
        <p:nvSpPr>
          <p:cNvPr id="14" name="Shape 11"/>
          <p:cNvSpPr/>
          <p:nvPr/>
        </p:nvSpPr>
        <p:spPr>
          <a:xfrm>
            <a:off x="4892040" y="1463040"/>
            <a:ext cx="1874520" cy="868680"/>
          </a:xfrm>
          <a:prstGeom prst="roundRect">
            <a:avLst>
              <a:gd name="adj" fmla="val 8421"/>
            </a:avLst>
          </a:prstGeom>
          <a:solidFill>
            <a:srgbClr val="F2F7F8"/>
          </a:solidFill>
          <a:ln w="12700">
            <a:solidFill>
              <a:srgbClr val="F2F7F8"/>
            </a:solidFill>
            <a:prstDash val="solid"/>
          </a:ln>
        </p:spPr>
      </p:sp>
      <p:sp>
        <p:nvSpPr>
          <p:cNvPr id="15" name="Text 12"/>
          <p:cNvSpPr txBox="1"/>
          <p:nvPr/>
        </p:nvSpPr>
        <p:spPr>
          <a:xfrm>
            <a:off x="5029200" y="1508760"/>
            <a:ext cx="16459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Gross Profit</a:t>
            </a:r>
            <a:endParaRPr lang="en-US" sz="1100" dirty="0"/>
          </a:p>
        </p:txBody>
      </p:sp>
      <p:sp>
        <p:nvSpPr>
          <p:cNvPr id="16" name="Text 13"/>
          <p:cNvSpPr txBox="1"/>
          <p:nvPr/>
        </p:nvSpPr>
        <p:spPr>
          <a:xfrm>
            <a:off x="5029200" y="1783080"/>
            <a:ext cx="1645920" cy="457200"/>
          </a:xfrm>
          <a:prstGeom prst="rect">
            <a:avLst/>
          </a:prstGeom>
          <a:noFill/>
          <a:ln/>
        </p:spPr>
        <p:txBody>
          <a:bodyPr wrap="square" lIns="0" tIns="0" rIns="0" bIns="0" rtlCol="0" anchor="ctr"/>
          <a:lstStyle/>
          <a:p>
            <a:pPr marL="0" indent="0">
              <a:buNone/>
            </a:pPr>
            <a:r>
              <a:rPr lang="en-US" sz="2000" b="1" dirty="0">
                <a:solidFill>
                  <a:srgbClr val="D64545"/>
                </a:solidFill>
                <a:latin typeface="Cambria" pitchFamily="34" charset="0"/>
                <a:ea typeface="Cambria" pitchFamily="34" charset="-122"/>
                <a:cs typeface="Cambria" pitchFamily="34" charset="-120"/>
              </a:rPr>
              <a:t>-R7.1M</a:t>
            </a:r>
            <a:endParaRPr lang="en-US" sz="2000" dirty="0"/>
          </a:p>
        </p:txBody>
      </p:sp>
      <p:sp>
        <p:nvSpPr>
          <p:cNvPr id="17" name="Shape 14"/>
          <p:cNvSpPr/>
          <p:nvPr/>
        </p:nvSpPr>
        <p:spPr>
          <a:xfrm>
            <a:off x="6949440" y="1463040"/>
            <a:ext cx="1874520" cy="868680"/>
          </a:xfrm>
          <a:prstGeom prst="roundRect">
            <a:avLst>
              <a:gd name="adj" fmla="val 8421"/>
            </a:avLst>
          </a:prstGeom>
          <a:solidFill>
            <a:srgbClr val="F2F7F8"/>
          </a:solidFill>
          <a:ln w="12700">
            <a:solidFill>
              <a:srgbClr val="F2F7F8"/>
            </a:solidFill>
            <a:prstDash val="solid"/>
          </a:ln>
        </p:spPr>
      </p:sp>
      <p:sp>
        <p:nvSpPr>
          <p:cNvPr id="18" name="Text 15"/>
          <p:cNvSpPr txBox="1"/>
          <p:nvPr/>
        </p:nvSpPr>
        <p:spPr>
          <a:xfrm>
            <a:off x="7086600" y="1508760"/>
            <a:ext cx="16459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Margin</a:t>
            </a:r>
            <a:endParaRPr lang="en-US" sz="1100" dirty="0"/>
          </a:p>
        </p:txBody>
      </p:sp>
      <p:sp>
        <p:nvSpPr>
          <p:cNvPr id="19" name="Text 16"/>
          <p:cNvSpPr txBox="1"/>
          <p:nvPr/>
        </p:nvSpPr>
        <p:spPr>
          <a:xfrm>
            <a:off x="7086600" y="1783080"/>
            <a:ext cx="1645920" cy="457200"/>
          </a:xfrm>
          <a:prstGeom prst="rect">
            <a:avLst/>
          </a:prstGeom>
          <a:noFill/>
          <a:ln/>
        </p:spPr>
        <p:txBody>
          <a:bodyPr wrap="square" lIns="0" tIns="0" rIns="0" bIns="0" rtlCol="0" anchor="ctr"/>
          <a:lstStyle/>
          <a:p>
            <a:pPr marL="0" indent="0">
              <a:buNone/>
            </a:pPr>
            <a:r>
              <a:rPr lang="en-US" sz="2000" b="1" dirty="0">
                <a:solidFill>
                  <a:srgbClr val="D64545"/>
                </a:solidFill>
                <a:latin typeface="Cambria" pitchFamily="34" charset="0"/>
                <a:ea typeface="Cambria" pitchFamily="34" charset="-122"/>
                <a:cs typeface="Cambria" pitchFamily="34" charset="-120"/>
              </a:rPr>
              <a:t>-3.8%</a:t>
            </a:r>
            <a:endParaRPr lang="en-US" sz="2000" dirty="0"/>
          </a:p>
        </p:txBody>
      </p:sp>
      <p:graphicFrame>
        <p:nvGraphicFramePr>
          <p:cNvPr id="20" name="Chart 0"/>
          <p:cNvGraphicFramePr/>
          <p:nvPr/>
        </p:nvGraphicFramePr>
        <p:xfrm>
          <a:off x="731520" y="2468880"/>
          <a:ext cx="4937760" cy="35661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hart 1"/>
          <p:cNvGraphicFramePr/>
          <p:nvPr/>
        </p:nvGraphicFramePr>
        <p:xfrm>
          <a:off x="5760720" y="2468880"/>
          <a:ext cx="310896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22" name="Shape 17"/>
          <p:cNvSpPr/>
          <p:nvPr/>
        </p:nvSpPr>
        <p:spPr>
          <a:xfrm>
            <a:off x="9235440" y="1280160"/>
            <a:ext cx="2423160" cy="4937760"/>
          </a:xfrm>
          <a:prstGeom prst="roundRect">
            <a:avLst>
              <a:gd name="adj" fmla="val 3774"/>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23" name="Text 18"/>
          <p:cNvSpPr txBox="1"/>
          <p:nvPr/>
        </p:nvSpPr>
        <p:spPr>
          <a:xfrm>
            <a:off x="9418320" y="1417320"/>
            <a:ext cx="2103120" cy="274320"/>
          </a:xfrm>
          <a:prstGeom prst="rect">
            <a:avLst/>
          </a:prstGeom>
          <a:noFill/>
          <a:ln/>
        </p:spPr>
        <p:txBody>
          <a:bodyPr wrap="square" lIns="0" tIns="0" rIns="0" bIns="0" rtlCol="0" anchor="ctr"/>
          <a:lstStyle/>
          <a:p>
            <a:pPr marL="0" indent="0">
              <a:buNone/>
            </a:pPr>
            <a:r>
              <a:rPr lang="en-US" sz="1200" b="1" kern="0" spc="300" dirty="0">
                <a:solidFill>
                  <a:srgbClr val="F26B21"/>
                </a:solidFill>
                <a:latin typeface="Calibri" pitchFamily="34" charset="0"/>
                <a:ea typeface="Calibri" pitchFamily="34" charset="-122"/>
                <a:cs typeface="Calibri" pitchFamily="34" charset="-120"/>
              </a:rPr>
              <a:t>FILTERS</a:t>
            </a:r>
            <a:endParaRPr lang="en-US" sz="1200" dirty="0"/>
          </a:p>
        </p:txBody>
      </p:sp>
      <p:sp>
        <p:nvSpPr>
          <p:cNvPr id="24" name="Shape 19"/>
          <p:cNvSpPr/>
          <p:nvPr/>
        </p:nvSpPr>
        <p:spPr>
          <a:xfrm>
            <a:off x="9418320" y="1828800"/>
            <a:ext cx="2057400" cy="411480"/>
          </a:xfrm>
          <a:prstGeom prst="roundRect">
            <a:avLst>
              <a:gd name="adj" fmla="val 48889"/>
            </a:avLst>
          </a:prstGeom>
          <a:solidFill>
            <a:srgbClr val="E1F3F4"/>
          </a:solidFill>
          <a:ln w="12700">
            <a:solidFill>
              <a:srgbClr val="E1F3F4"/>
            </a:solidFill>
            <a:prstDash val="solid"/>
          </a:ln>
        </p:spPr>
      </p:sp>
      <p:sp>
        <p:nvSpPr>
          <p:cNvPr id="25" name="Text 20"/>
          <p:cNvSpPr txBox="1"/>
          <p:nvPr/>
        </p:nvSpPr>
        <p:spPr>
          <a:xfrm>
            <a:off x="9418320" y="1828800"/>
            <a:ext cx="2057400" cy="411480"/>
          </a:xfrm>
          <a:prstGeom prst="rect">
            <a:avLst/>
          </a:prstGeom>
          <a:noFill/>
          <a:ln/>
        </p:spPr>
        <p:txBody>
          <a:bodyPr wrap="square" lIns="0" tIns="0" rIns="0" bIns="0" rtlCol="0" anchor="ctr"/>
          <a:lstStyle/>
          <a:p>
            <a:pPr marL="0" indent="0" algn="ctr">
              <a:buNone/>
            </a:pPr>
            <a:r>
              <a:rPr lang="en-US" sz="1200" dirty="0">
                <a:solidFill>
                  <a:srgbClr val="0B3C49"/>
                </a:solidFill>
                <a:latin typeface="Calibri" pitchFamily="34" charset="0"/>
                <a:ea typeface="Calibri" pitchFamily="34" charset="-122"/>
                <a:cs typeface="Calibri" pitchFamily="34" charset="-120"/>
              </a:rPr>
              <a:t>Year</a:t>
            </a:r>
            <a:endParaRPr lang="en-US" sz="1200" dirty="0"/>
          </a:p>
        </p:txBody>
      </p:sp>
      <p:sp>
        <p:nvSpPr>
          <p:cNvPr id="26" name="Shape 21"/>
          <p:cNvSpPr/>
          <p:nvPr/>
        </p:nvSpPr>
        <p:spPr>
          <a:xfrm>
            <a:off x="9418320" y="2395728"/>
            <a:ext cx="2057400" cy="411480"/>
          </a:xfrm>
          <a:prstGeom prst="roundRect">
            <a:avLst>
              <a:gd name="adj" fmla="val 48889"/>
            </a:avLst>
          </a:prstGeom>
          <a:solidFill>
            <a:srgbClr val="E1F3F4"/>
          </a:solidFill>
          <a:ln w="12700">
            <a:solidFill>
              <a:srgbClr val="E1F3F4"/>
            </a:solidFill>
            <a:prstDash val="solid"/>
          </a:ln>
        </p:spPr>
      </p:sp>
      <p:sp>
        <p:nvSpPr>
          <p:cNvPr id="27" name="Text 22"/>
          <p:cNvSpPr txBox="1"/>
          <p:nvPr/>
        </p:nvSpPr>
        <p:spPr>
          <a:xfrm>
            <a:off x="9418320" y="2395728"/>
            <a:ext cx="2057400" cy="411480"/>
          </a:xfrm>
          <a:prstGeom prst="rect">
            <a:avLst/>
          </a:prstGeom>
          <a:noFill/>
          <a:ln/>
        </p:spPr>
        <p:txBody>
          <a:bodyPr wrap="square" lIns="0" tIns="0" rIns="0" bIns="0" rtlCol="0" anchor="ctr"/>
          <a:lstStyle/>
          <a:p>
            <a:pPr marL="0" indent="0" algn="ctr">
              <a:buNone/>
            </a:pPr>
            <a:r>
              <a:rPr lang="en-US" sz="1200" dirty="0">
                <a:solidFill>
                  <a:srgbClr val="0B3C49"/>
                </a:solidFill>
                <a:latin typeface="Calibri" pitchFamily="34" charset="0"/>
                <a:ea typeface="Calibri" pitchFamily="34" charset="-122"/>
                <a:cs typeface="Calibri" pitchFamily="34" charset="-120"/>
              </a:rPr>
              <a:t>Month</a:t>
            </a:r>
            <a:endParaRPr lang="en-US" sz="1200" dirty="0"/>
          </a:p>
        </p:txBody>
      </p:sp>
      <p:sp>
        <p:nvSpPr>
          <p:cNvPr id="28" name="Shape 23"/>
          <p:cNvSpPr/>
          <p:nvPr/>
        </p:nvSpPr>
        <p:spPr>
          <a:xfrm>
            <a:off x="9418320" y="2962656"/>
            <a:ext cx="2057400" cy="411480"/>
          </a:xfrm>
          <a:prstGeom prst="roundRect">
            <a:avLst>
              <a:gd name="adj" fmla="val 48889"/>
            </a:avLst>
          </a:prstGeom>
          <a:solidFill>
            <a:srgbClr val="E1F3F4"/>
          </a:solidFill>
          <a:ln w="12700">
            <a:solidFill>
              <a:srgbClr val="E1F3F4"/>
            </a:solidFill>
            <a:prstDash val="solid"/>
          </a:ln>
        </p:spPr>
      </p:sp>
      <p:sp>
        <p:nvSpPr>
          <p:cNvPr id="29" name="Text 24"/>
          <p:cNvSpPr txBox="1"/>
          <p:nvPr/>
        </p:nvSpPr>
        <p:spPr>
          <a:xfrm>
            <a:off x="9418320" y="2962656"/>
            <a:ext cx="2057400" cy="411480"/>
          </a:xfrm>
          <a:prstGeom prst="rect">
            <a:avLst/>
          </a:prstGeom>
          <a:noFill/>
          <a:ln/>
        </p:spPr>
        <p:txBody>
          <a:bodyPr wrap="square" lIns="0" tIns="0" rIns="0" bIns="0" rtlCol="0" anchor="ctr"/>
          <a:lstStyle/>
          <a:p>
            <a:pPr marL="0" indent="0" algn="ctr">
              <a:buNone/>
            </a:pPr>
            <a:r>
              <a:rPr lang="en-US" sz="1200" dirty="0">
                <a:solidFill>
                  <a:srgbClr val="0B3C49"/>
                </a:solidFill>
                <a:latin typeface="Calibri" pitchFamily="34" charset="0"/>
                <a:ea typeface="Calibri" pitchFamily="34" charset="-122"/>
                <a:cs typeface="Calibri" pitchFamily="34" charset="-120"/>
              </a:rPr>
              <a:t>Weekday</a:t>
            </a:r>
            <a:endParaRPr lang="en-US" sz="1200" dirty="0"/>
          </a:p>
        </p:txBody>
      </p:sp>
      <p:sp>
        <p:nvSpPr>
          <p:cNvPr id="30" name="Shape 25"/>
          <p:cNvSpPr/>
          <p:nvPr/>
        </p:nvSpPr>
        <p:spPr>
          <a:xfrm>
            <a:off x="9418320" y="3529584"/>
            <a:ext cx="2057400" cy="411480"/>
          </a:xfrm>
          <a:prstGeom prst="roundRect">
            <a:avLst>
              <a:gd name="adj" fmla="val 48889"/>
            </a:avLst>
          </a:prstGeom>
          <a:solidFill>
            <a:srgbClr val="E1F3F4"/>
          </a:solidFill>
          <a:ln w="12700">
            <a:solidFill>
              <a:srgbClr val="E1F3F4"/>
            </a:solidFill>
            <a:prstDash val="solid"/>
          </a:ln>
        </p:spPr>
      </p:sp>
      <p:sp>
        <p:nvSpPr>
          <p:cNvPr id="31" name="Text 26"/>
          <p:cNvSpPr txBox="1"/>
          <p:nvPr/>
        </p:nvSpPr>
        <p:spPr>
          <a:xfrm>
            <a:off x="9418320" y="3529584"/>
            <a:ext cx="2057400" cy="411480"/>
          </a:xfrm>
          <a:prstGeom prst="rect">
            <a:avLst/>
          </a:prstGeom>
          <a:noFill/>
          <a:ln/>
        </p:spPr>
        <p:txBody>
          <a:bodyPr wrap="square" lIns="0" tIns="0" rIns="0" bIns="0" rtlCol="0" anchor="ctr"/>
          <a:lstStyle/>
          <a:p>
            <a:pPr marL="0" indent="0" algn="ctr">
              <a:buNone/>
            </a:pPr>
            <a:r>
              <a:rPr lang="en-US" sz="1200" dirty="0">
                <a:solidFill>
                  <a:srgbClr val="0B3C49"/>
                </a:solidFill>
                <a:latin typeface="Calibri" pitchFamily="34" charset="0"/>
                <a:ea typeface="Calibri" pitchFamily="34" charset="-122"/>
                <a:cs typeface="Calibri" pitchFamily="34" charset="-120"/>
              </a:rPr>
              <a:t>Promotion Status</a:t>
            </a:r>
            <a:endParaRPr lang="en-US" sz="1200" dirty="0"/>
          </a:p>
        </p:txBody>
      </p:sp>
      <p:sp>
        <p:nvSpPr>
          <p:cNvPr id="32" name="Shape 27"/>
          <p:cNvSpPr/>
          <p:nvPr/>
        </p:nvSpPr>
        <p:spPr>
          <a:xfrm>
            <a:off x="9418320" y="4096512"/>
            <a:ext cx="2057400" cy="411480"/>
          </a:xfrm>
          <a:prstGeom prst="roundRect">
            <a:avLst>
              <a:gd name="adj" fmla="val 48889"/>
            </a:avLst>
          </a:prstGeom>
          <a:solidFill>
            <a:srgbClr val="E1F3F4"/>
          </a:solidFill>
          <a:ln w="12700">
            <a:solidFill>
              <a:srgbClr val="E1F3F4"/>
            </a:solidFill>
            <a:prstDash val="solid"/>
          </a:ln>
        </p:spPr>
      </p:sp>
      <p:sp>
        <p:nvSpPr>
          <p:cNvPr id="33" name="Text 28"/>
          <p:cNvSpPr txBox="1"/>
          <p:nvPr/>
        </p:nvSpPr>
        <p:spPr>
          <a:xfrm>
            <a:off x="9418320" y="4096512"/>
            <a:ext cx="2057400" cy="411480"/>
          </a:xfrm>
          <a:prstGeom prst="rect">
            <a:avLst/>
          </a:prstGeom>
          <a:noFill/>
          <a:ln/>
        </p:spPr>
        <p:txBody>
          <a:bodyPr wrap="square" lIns="0" tIns="0" rIns="0" bIns="0" rtlCol="0" anchor="ctr"/>
          <a:lstStyle/>
          <a:p>
            <a:pPr marL="0" indent="0" algn="ctr">
              <a:buNone/>
            </a:pPr>
            <a:r>
              <a:rPr lang="en-US" sz="1200" dirty="0">
                <a:solidFill>
                  <a:srgbClr val="0B3C49"/>
                </a:solidFill>
                <a:latin typeface="Calibri" pitchFamily="34" charset="0"/>
                <a:ea typeface="Calibri" pitchFamily="34" charset="-122"/>
                <a:cs typeface="Calibri" pitchFamily="34" charset="-120"/>
              </a:rPr>
              <a:t>Promotion Period</a:t>
            </a:r>
            <a:endParaRPr lang="en-US" sz="1200" dirty="0"/>
          </a:p>
        </p:txBody>
      </p:sp>
      <p:sp>
        <p:nvSpPr>
          <p:cNvPr id="34" name="Text 29"/>
          <p:cNvSpPr txBox="1"/>
          <p:nvPr/>
        </p:nvSpPr>
        <p:spPr>
          <a:xfrm>
            <a:off x="9418320" y="4754880"/>
            <a:ext cx="2057400" cy="1280160"/>
          </a:xfrm>
          <a:prstGeom prst="rect">
            <a:avLst/>
          </a:prstGeom>
          <a:noFill/>
          <a:ln/>
        </p:spPr>
        <p:txBody>
          <a:bodyPr wrap="square" lIns="0" tIns="0" rIns="0" bIns="0" rtlCol="0" anchor="t"/>
          <a:lstStyle/>
          <a:p>
            <a:pPr marL="0" indent="0">
              <a:buNone/>
            </a:pPr>
            <a:r>
              <a:rPr lang="en-US" sz="1200" dirty="0">
                <a:solidFill>
                  <a:srgbClr val="5B6B73"/>
                </a:solidFill>
                <a:latin typeface="Calibri" pitchFamily="34" charset="0"/>
                <a:ea typeface="Calibri" pitchFamily="34" charset="-122"/>
                <a:cs typeface="Calibri" pitchFamily="34" charset="-120"/>
              </a:rPr>
              <a:t>Use the filters to slice every KPI and chart by period or promotion.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0B3C49"/>
        </a:solidFill>
        <a:effectLst/>
      </p:bgPr>
    </p:bg>
    <p:spTree>
      <p:nvGrpSpPr>
        <p:cNvPr id="1" name=""/>
        <p:cNvGrpSpPr/>
        <p:nvPr/>
      </p:nvGrpSpPr>
      <p:grpSpPr>
        <a:xfrm>
          <a:off x="0" y="0"/>
          <a:ext cx="0" cy="0"/>
          <a:chOff x="0" y="0"/>
          <a:chExt cx="0" cy="0"/>
        </a:xfrm>
      </p:grpSpPr>
      <p:sp>
        <p:nvSpPr>
          <p:cNvPr id="3" name="Text 0"/>
          <p:cNvSpPr txBox="1"/>
          <p:nvPr/>
        </p:nvSpPr>
        <p:spPr>
          <a:xfrm>
            <a:off x="822960" y="640080"/>
            <a:ext cx="91440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4" name="Shape 1"/>
          <p:cNvSpPr/>
          <p:nvPr/>
        </p:nvSpPr>
        <p:spPr>
          <a:xfrm>
            <a:off x="822960" y="1828800"/>
            <a:ext cx="3291840" cy="3383280"/>
          </a:xfrm>
          <a:prstGeom prst="roundRect">
            <a:avLst>
              <a:gd name="adj" fmla="val 2778"/>
            </a:avLst>
          </a:prstGeom>
          <a:solidFill>
            <a:srgbClr val="12505F"/>
          </a:solidFill>
          <a:ln w="12700">
            <a:solidFill>
              <a:srgbClr val="12505F"/>
            </a:solidFill>
            <a:prstDash val="solid"/>
          </a:ln>
        </p:spPr>
      </p:sp>
      <p:sp>
        <p:nvSpPr>
          <p:cNvPr id="5" name="Shape 2"/>
          <p:cNvSpPr/>
          <p:nvPr/>
        </p:nvSpPr>
        <p:spPr>
          <a:xfrm>
            <a:off x="1097280" y="2103120"/>
            <a:ext cx="731520" cy="731520"/>
          </a:xfrm>
          <a:prstGeom prst="ellipse">
            <a:avLst/>
          </a:prstGeom>
          <a:solidFill>
            <a:srgbClr val="F26B21"/>
          </a:solidFill>
          <a:ln w="12700">
            <a:solidFill>
              <a:srgbClr val="F26B21"/>
            </a:solidFill>
            <a:prstDash val="solid"/>
          </a:ln>
        </p:spPr>
      </p:sp>
      <p:pic>
        <p:nvPicPr>
          <p:cNvPr id="6" name="Image 0" descr="preencoded.png"/>
          <p:cNvPicPr>
            <a:picLocks noChangeAspect="1"/>
          </p:cNvPicPr>
          <p:nvPr/>
        </p:nvPicPr>
        <p:blipFill>
          <a:blip r:embed="rId3"/>
          <a:stretch>
            <a:fillRect/>
          </a:stretch>
        </p:blipFill>
        <p:spPr>
          <a:xfrm>
            <a:off x="1280160" y="2286000"/>
            <a:ext cx="365760" cy="365760"/>
          </a:xfrm>
          <a:prstGeom prst="rect">
            <a:avLst/>
          </a:prstGeom>
        </p:spPr>
      </p:pic>
      <p:sp>
        <p:nvSpPr>
          <p:cNvPr id="7" name="Text 3"/>
          <p:cNvSpPr txBox="1"/>
          <p:nvPr/>
        </p:nvSpPr>
        <p:spPr>
          <a:xfrm>
            <a:off x="1097280" y="30175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What we found</a:t>
            </a:r>
            <a:endParaRPr lang="en-US" sz="2000" dirty="0"/>
          </a:p>
        </p:txBody>
      </p:sp>
      <p:sp>
        <p:nvSpPr>
          <p:cNvPr id="8" name="Text 4"/>
          <p:cNvSpPr txBox="1"/>
          <p:nvPr/>
        </p:nvSpPr>
        <p:spPr>
          <a:xfrm>
            <a:off x="1097280" y="3566160"/>
            <a:ext cx="2743200" cy="1463040"/>
          </a:xfrm>
          <a:prstGeom prst="rect">
            <a:avLst/>
          </a:prstGeom>
          <a:noFill/>
          <a:ln/>
        </p:spPr>
        <p:txBody>
          <a:bodyPr wrap="square" lIns="0" tIns="0" rIns="0" bIns="0" rtlCol="0" anchor="t"/>
          <a:lstStyle/>
          <a:p>
            <a:pPr marL="0" indent="0">
              <a:buNone/>
            </a:pPr>
            <a:r>
              <a:rPr lang="en-US" sz="1400" dirty="0">
                <a:solidFill>
                  <a:srgbClr val="CFE9EB"/>
                </a:solidFill>
                <a:latin typeface="Calibri" pitchFamily="34" charset="0"/>
                <a:ea typeface="Calibri" pitchFamily="34" charset="-122"/>
                <a:cs typeface="Calibri" pitchFamily="34" charset="-120"/>
              </a:rPr>
              <a:t>R186.9M sales but a R7.1M gross loss; cost per unit above price; promotions raise volume but deepen losses.</a:t>
            </a:r>
            <a:endParaRPr lang="en-US" sz="1400" dirty="0"/>
          </a:p>
        </p:txBody>
      </p:sp>
      <p:sp>
        <p:nvSpPr>
          <p:cNvPr id="9" name="Shape 5"/>
          <p:cNvSpPr/>
          <p:nvPr/>
        </p:nvSpPr>
        <p:spPr>
          <a:xfrm>
            <a:off x="4389120" y="1828800"/>
            <a:ext cx="3291840" cy="3383280"/>
          </a:xfrm>
          <a:prstGeom prst="roundRect">
            <a:avLst>
              <a:gd name="adj" fmla="val 2778"/>
            </a:avLst>
          </a:prstGeom>
          <a:solidFill>
            <a:srgbClr val="12505F"/>
          </a:solidFill>
          <a:ln w="12700">
            <a:solidFill>
              <a:srgbClr val="12505F"/>
            </a:solidFill>
            <a:prstDash val="solid"/>
          </a:ln>
        </p:spPr>
      </p:sp>
      <p:sp>
        <p:nvSpPr>
          <p:cNvPr id="10" name="Shape 6"/>
          <p:cNvSpPr/>
          <p:nvPr/>
        </p:nvSpPr>
        <p:spPr>
          <a:xfrm>
            <a:off x="4663440" y="2103120"/>
            <a:ext cx="731520" cy="731520"/>
          </a:xfrm>
          <a:prstGeom prst="ellipse">
            <a:avLst/>
          </a:prstGeom>
          <a:solidFill>
            <a:srgbClr val="009BA4"/>
          </a:solidFill>
          <a:ln w="12700">
            <a:solidFill>
              <a:srgbClr val="009BA4"/>
            </a:solidFill>
            <a:prstDash val="solid"/>
          </a:ln>
        </p:spPr>
      </p:sp>
      <p:pic>
        <p:nvPicPr>
          <p:cNvPr id="11" name="Image 1" descr="preencoded.png"/>
          <p:cNvPicPr>
            <a:picLocks noChangeAspect="1"/>
          </p:cNvPicPr>
          <p:nvPr/>
        </p:nvPicPr>
        <p:blipFill>
          <a:blip r:embed="rId4"/>
          <a:stretch>
            <a:fillRect/>
          </a:stretch>
        </p:blipFill>
        <p:spPr>
          <a:xfrm>
            <a:off x="4846320" y="2286000"/>
            <a:ext cx="365760" cy="365760"/>
          </a:xfrm>
          <a:prstGeom prst="rect">
            <a:avLst/>
          </a:prstGeom>
        </p:spPr>
      </p:pic>
      <p:sp>
        <p:nvSpPr>
          <p:cNvPr id="12" name="Text 7"/>
          <p:cNvSpPr txBox="1"/>
          <p:nvPr/>
        </p:nvSpPr>
        <p:spPr>
          <a:xfrm>
            <a:off x="4663440" y="30175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Business value</a:t>
            </a:r>
            <a:endParaRPr lang="en-US" sz="2000" dirty="0"/>
          </a:p>
        </p:txBody>
      </p:sp>
      <p:sp>
        <p:nvSpPr>
          <p:cNvPr id="13" name="Text 8"/>
          <p:cNvSpPr txBox="1"/>
          <p:nvPr/>
        </p:nvSpPr>
        <p:spPr>
          <a:xfrm>
            <a:off x="4663440" y="3566160"/>
            <a:ext cx="2743200" cy="1463040"/>
          </a:xfrm>
          <a:prstGeom prst="rect">
            <a:avLst/>
          </a:prstGeom>
          <a:noFill/>
          <a:ln/>
        </p:spPr>
        <p:txBody>
          <a:bodyPr wrap="square" lIns="0" tIns="0" rIns="0" bIns="0" rtlCol="0" anchor="t"/>
          <a:lstStyle/>
          <a:p>
            <a:pPr marL="0" indent="0">
              <a:buNone/>
            </a:pPr>
            <a:r>
              <a:rPr lang="en-US" sz="1400" dirty="0">
                <a:solidFill>
                  <a:srgbClr val="CFE9EB"/>
                </a:solidFill>
                <a:latin typeface="Calibri" pitchFamily="34" charset="0"/>
                <a:ea typeface="Calibri" pitchFamily="34" charset="-122"/>
                <a:cs typeface="Calibri" pitchFamily="34" charset="-120"/>
              </a:rPr>
              <a:t>Pinpoints where to act first: pricing, promotion design and Friday/Saturday margins.</a:t>
            </a:r>
            <a:endParaRPr lang="en-US" sz="1400" dirty="0"/>
          </a:p>
        </p:txBody>
      </p:sp>
      <p:sp>
        <p:nvSpPr>
          <p:cNvPr id="14" name="Shape 9"/>
          <p:cNvSpPr/>
          <p:nvPr/>
        </p:nvSpPr>
        <p:spPr>
          <a:xfrm>
            <a:off x="7955280" y="1828800"/>
            <a:ext cx="3291840" cy="3383280"/>
          </a:xfrm>
          <a:prstGeom prst="roundRect">
            <a:avLst>
              <a:gd name="adj" fmla="val 2778"/>
            </a:avLst>
          </a:prstGeom>
          <a:solidFill>
            <a:srgbClr val="12505F"/>
          </a:solidFill>
          <a:ln w="12700">
            <a:solidFill>
              <a:srgbClr val="12505F"/>
            </a:solidFill>
            <a:prstDash val="solid"/>
          </a:ln>
        </p:spPr>
      </p:sp>
      <p:sp>
        <p:nvSpPr>
          <p:cNvPr id="15" name="Shape 10"/>
          <p:cNvSpPr/>
          <p:nvPr/>
        </p:nvSpPr>
        <p:spPr>
          <a:xfrm>
            <a:off x="8229600" y="2103120"/>
            <a:ext cx="731520" cy="731520"/>
          </a:xfrm>
          <a:prstGeom prst="ellipse">
            <a:avLst/>
          </a:prstGeom>
          <a:solidFill>
            <a:srgbClr val="009BA4"/>
          </a:solidFill>
          <a:ln w="12700">
            <a:solidFill>
              <a:srgbClr val="009BA4"/>
            </a:solidFill>
            <a:prstDash val="solid"/>
          </a:ln>
        </p:spPr>
      </p:sp>
      <p:pic>
        <p:nvPicPr>
          <p:cNvPr id="16" name="Image 2" descr="preencoded.png"/>
          <p:cNvPicPr>
            <a:picLocks noChangeAspect="1"/>
          </p:cNvPicPr>
          <p:nvPr/>
        </p:nvPicPr>
        <p:blipFill>
          <a:blip r:embed="rId5"/>
          <a:stretch>
            <a:fillRect/>
          </a:stretch>
        </p:blipFill>
        <p:spPr>
          <a:xfrm>
            <a:off x="8412480" y="2286000"/>
            <a:ext cx="365760" cy="365760"/>
          </a:xfrm>
          <a:prstGeom prst="rect">
            <a:avLst/>
          </a:prstGeom>
        </p:spPr>
      </p:pic>
      <p:sp>
        <p:nvSpPr>
          <p:cNvPr id="17" name="Text 11"/>
          <p:cNvSpPr txBox="1"/>
          <p:nvPr/>
        </p:nvSpPr>
        <p:spPr>
          <a:xfrm>
            <a:off x="8229600" y="3017520"/>
            <a:ext cx="27432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Why analytics matters</a:t>
            </a:r>
            <a:endParaRPr lang="en-US" sz="2000" dirty="0"/>
          </a:p>
        </p:txBody>
      </p:sp>
      <p:sp>
        <p:nvSpPr>
          <p:cNvPr id="18" name="Text 12"/>
          <p:cNvSpPr txBox="1"/>
          <p:nvPr/>
        </p:nvSpPr>
        <p:spPr>
          <a:xfrm>
            <a:off x="8229600" y="3566160"/>
            <a:ext cx="2743200" cy="1463040"/>
          </a:xfrm>
          <a:prstGeom prst="rect">
            <a:avLst/>
          </a:prstGeom>
          <a:noFill/>
          <a:ln/>
        </p:spPr>
        <p:txBody>
          <a:bodyPr wrap="square" lIns="0" tIns="0" rIns="0" bIns="0" rtlCol="0" anchor="t"/>
          <a:lstStyle/>
          <a:p>
            <a:pPr marL="0" indent="0">
              <a:buNone/>
            </a:pPr>
            <a:r>
              <a:rPr lang="en-US" sz="1400" dirty="0">
                <a:solidFill>
                  <a:srgbClr val="CFE9EB"/>
                </a:solidFill>
                <a:latin typeface="Calibri" pitchFamily="34" charset="0"/>
                <a:ea typeface="Calibri" pitchFamily="34" charset="-122"/>
                <a:cs typeface="Calibri" pitchFamily="34" charset="-120"/>
              </a:rPr>
              <a:t>Turns daily sales data into evidence for pricing, promotion and planning decisions.</a:t>
            </a:r>
            <a:endParaRPr lang="en-US" sz="1400" dirty="0"/>
          </a:p>
        </p:txBody>
      </p:sp>
      <p:sp>
        <p:nvSpPr>
          <p:cNvPr id="19" name="Text 13"/>
          <p:cNvSpPr txBox="1"/>
          <p:nvPr/>
        </p:nvSpPr>
        <p:spPr>
          <a:xfrm>
            <a:off x="822960" y="5760720"/>
            <a:ext cx="8229600" cy="45720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Thank you  |  Katlego Mphahlele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2758</Words>
  <Application>Microsoft Office PowerPoint</Application>
  <PresentationFormat>Widescreen</PresentationFormat>
  <Paragraphs>234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FNB Sales Analysis - Sales Case Study</dc:title>
  <dc:subject>PptxGenJS Presentation</dc:subject>
  <dc:creator>Katlego Mphahlele</dc:creator>
  <cp:lastModifiedBy>katlego baldwin</cp:lastModifiedBy>
  <cp:revision>2</cp:revision>
  <dcterms:created xsi:type="dcterms:W3CDTF">2026-09-24T21:27:47Z</dcterms:created>
  <dcterms:modified xsi:type="dcterms:W3CDTF">2026-09-24T21:47:32Z</dcterms:modified>
</cp:coreProperties>
</file>